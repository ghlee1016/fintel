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166A2-4394-416F-B9E8-C8E278BDA16F}" v="5" dt="2026-05-14T06:11:42.859"/>
    <p1510:client id="{F424B022-03E8-4091-95B7-0DFF28139A80}" v="2" dt="2026-05-13T15:51:19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희석 황" userId="1344bc0b7afb11dd" providerId="LiveId" clId="{14CEA08E-1448-44CA-9C8D-2EBC1D86494C}"/>
    <pc:docChg chg="undo custSel modSld">
      <pc:chgData name="희석 황" userId="1344bc0b7afb11dd" providerId="LiveId" clId="{14CEA08E-1448-44CA-9C8D-2EBC1D86494C}" dt="2026-05-14T06:24:13.749" v="576"/>
      <pc:docMkLst>
        <pc:docMk/>
      </pc:docMkLst>
      <pc:sldChg chg="addSp delSp modSp mod">
        <pc:chgData name="희석 황" userId="1344bc0b7afb11dd" providerId="LiveId" clId="{14CEA08E-1448-44CA-9C8D-2EBC1D86494C}" dt="2026-05-14T06:13:08.771" v="246"/>
        <pc:sldMkLst>
          <pc:docMk/>
          <pc:sldMk cId="0" sldId="256"/>
        </pc:sldMkLst>
        <pc:spChg chg="mod">
          <ac:chgData name="희석 황" userId="1344bc0b7afb11dd" providerId="LiveId" clId="{14CEA08E-1448-44CA-9C8D-2EBC1D86494C}" dt="2026-05-14T06:12:56.217" v="230"/>
          <ac:spMkLst>
            <pc:docMk/>
            <pc:sldMk cId="0" sldId="256"/>
            <ac:spMk id="2" creationId="{00000000-0000-0000-0000-000000000000}"/>
          </ac:spMkLst>
        </pc:spChg>
        <pc:spChg chg="del">
          <ac:chgData name="희석 황" userId="1344bc0b7afb11dd" providerId="LiveId" clId="{14CEA08E-1448-44CA-9C8D-2EBC1D86494C}" dt="2026-05-13T15:51:29.616" v="60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희석 황" userId="1344bc0b7afb11dd" providerId="LiveId" clId="{14CEA08E-1448-44CA-9C8D-2EBC1D86494C}" dt="2026-05-14T06:13:08.771" v="246"/>
          <ac:spMkLst>
            <pc:docMk/>
            <pc:sldMk cId="0" sldId="256"/>
            <ac:spMk id="3" creationId="{12C6B14B-8597-4735-9E21-231C376C85D3}"/>
          </ac:spMkLst>
        </pc:spChg>
        <pc:spChg chg="mod">
          <ac:chgData name="희석 황" userId="1344bc0b7afb11dd" providerId="LiveId" clId="{14CEA08E-1448-44CA-9C8D-2EBC1D86494C}" dt="2026-05-14T06:13:08.766" v="239"/>
          <ac:spMkLst>
            <pc:docMk/>
            <pc:sldMk cId="0" sldId="256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3:08.766" v="240"/>
          <ac:spMkLst>
            <pc:docMk/>
            <pc:sldMk cId="0" sldId="256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3:08.767" v="241"/>
          <ac:spMkLst>
            <pc:docMk/>
            <pc:sldMk cId="0" sldId="256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3:08.767" v="242"/>
          <ac:spMkLst>
            <pc:docMk/>
            <pc:sldMk cId="0" sldId="256"/>
            <ac:spMk id="7" creationId="{00000000-0000-0000-0000-000000000000}"/>
          </ac:spMkLst>
        </pc:spChg>
      </pc:sldChg>
      <pc:sldChg chg="addSp modSp mod">
        <pc:chgData name="희석 황" userId="1344bc0b7afb11dd" providerId="LiveId" clId="{14CEA08E-1448-44CA-9C8D-2EBC1D86494C}" dt="2026-05-14T06:17:12.787" v="480"/>
        <pc:sldMkLst>
          <pc:docMk/>
          <pc:sldMk cId="0" sldId="257"/>
        </pc:sldMkLst>
        <pc:spChg chg="mod">
          <ac:chgData name="희석 황" userId="1344bc0b7afb11dd" providerId="LiveId" clId="{14CEA08E-1448-44CA-9C8D-2EBC1D86494C}" dt="2026-05-14T06:17:12.785" v="470"/>
          <ac:spMkLst>
            <pc:docMk/>
            <pc:sldMk cId="0" sldId="257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7:12.786" v="472"/>
          <ac:spMkLst>
            <pc:docMk/>
            <pc:sldMk cId="0" sldId="257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7:12.786" v="474"/>
          <ac:spMkLst>
            <pc:docMk/>
            <pc:sldMk cId="0" sldId="257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7:12.786" v="4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7:12.787" v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7:12.787" v="480"/>
          <ac:spMkLst>
            <pc:docMk/>
            <pc:sldMk cId="0" sldId="257"/>
            <ac:spMk id="9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7:12.782" v="456"/>
          <ac:spMkLst>
            <pc:docMk/>
            <pc:sldMk cId="0" sldId="257"/>
            <ac:spMk id="10" creationId="{0F2ED6B7-28DC-49A6-901E-8C0C5A2F445E}"/>
          </ac:spMkLst>
        </pc:spChg>
        <pc:spChg chg="add mod ord">
          <ac:chgData name="희석 황" userId="1344bc0b7afb11dd" providerId="LiveId" clId="{14CEA08E-1448-44CA-9C8D-2EBC1D86494C}" dt="2026-05-14T06:17:12.783" v="461"/>
          <ac:spMkLst>
            <pc:docMk/>
            <pc:sldMk cId="0" sldId="257"/>
            <ac:spMk id="11" creationId="{4CB8024E-36A2-41A4-B6DF-30E2041535C1}"/>
          </ac:spMkLst>
        </pc:spChg>
        <pc:spChg chg="add mod ord">
          <ac:chgData name="희석 황" userId="1344bc0b7afb11dd" providerId="LiveId" clId="{14CEA08E-1448-44CA-9C8D-2EBC1D86494C}" dt="2026-05-14T06:17:12.784" v="466"/>
          <ac:spMkLst>
            <pc:docMk/>
            <pc:sldMk cId="0" sldId="257"/>
            <ac:spMk id="12" creationId="{9D5792A8-F65B-4DF6-B932-CCC203B61DE2}"/>
          </ac:spMkLst>
        </pc:spChg>
      </pc:sldChg>
      <pc:sldChg chg="addSp modSp mod">
        <pc:chgData name="희석 황" userId="1344bc0b7afb11dd" providerId="LiveId" clId="{14CEA08E-1448-44CA-9C8D-2EBC1D86494C}" dt="2026-05-14T06:20:13.928" v="500" actId="113"/>
        <pc:sldMkLst>
          <pc:docMk/>
          <pc:sldMk cId="0" sldId="258"/>
        </pc:sldMkLst>
        <pc:spChg chg="mod">
          <ac:chgData name="희석 황" userId="1344bc0b7afb11dd" providerId="LiveId" clId="{14CEA08E-1448-44CA-9C8D-2EBC1D86494C}" dt="2026-05-14T06:14:05.840" v="265"/>
          <ac:spMkLst>
            <pc:docMk/>
            <pc:sldMk cId="0" sldId="258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13.928" v="500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07.228" v="49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10.543" v="497" actId="1076"/>
          <ac:spMkLst>
            <pc:docMk/>
            <pc:sldMk cId="0" sldId="258"/>
            <ac:spMk id="7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4:05.842" v="271"/>
          <ac:spMkLst>
            <pc:docMk/>
            <pc:sldMk cId="0" sldId="258"/>
            <ac:spMk id="8" creationId="{492A43A5-DF9B-431A-A41F-C4D0B6EDD115}"/>
          </ac:spMkLst>
        </pc:spChg>
        <pc:spChg chg="add mod ord">
          <ac:chgData name="희석 황" userId="1344bc0b7afb11dd" providerId="LiveId" clId="{14CEA08E-1448-44CA-9C8D-2EBC1D86494C}" dt="2026-05-14T06:14:05.839" v="260"/>
          <ac:spMkLst>
            <pc:docMk/>
            <pc:sldMk cId="0" sldId="258"/>
            <ac:spMk id="9" creationId="{17462219-0586-49DE-9C92-55788F454259}"/>
          </ac:spMkLst>
        </pc:spChg>
      </pc:sldChg>
      <pc:sldChg chg="addSp modSp mod">
        <pc:chgData name="희석 황" userId="1344bc0b7afb11dd" providerId="LiveId" clId="{14CEA08E-1448-44CA-9C8D-2EBC1D86494C}" dt="2026-05-14T06:20:34.048" v="510" actId="20577"/>
        <pc:sldMkLst>
          <pc:docMk/>
          <pc:sldMk cId="0" sldId="259"/>
        </pc:sldMkLst>
        <pc:spChg chg="mod">
          <ac:chgData name="희석 황" userId="1344bc0b7afb11dd" providerId="LiveId" clId="{14CEA08E-1448-44CA-9C8D-2EBC1D86494C}" dt="2026-05-14T06:14:33.524" v="284"/>
          <ac:spMkLst>
            <pc:docMk/>
            <pc:sldMk cId="0" sldId="259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24.056" v="505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4:33.526" v="288"/>
          <ac:spMkLst>
            <pc:docMk/>
            <pc:sldMk cId="0" sldId="259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34.048" v="510" actId="20577"/>
          <ac:spMkLst>
            <pc:docMk/>
            <pc:sldMk cId="0" sldId="259"/>
            <ac:spMk id="7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4:33.521" v="276"/>
          <ac:spMkLst>
            <pc:docMk/>
            <pc:sldMk cId="0" sldId="259"/>
            <ac:spMk id="8" creationId="{35E09115-0AC3-4F3A-B677-7FEDA03DE5BC}"/>
          </ac:spMkLst>
        </pc:spChg>
        <pc:spChg chg="add mod ord">
          <ac:chgData name="희석 황" userId="1344bc0b7afb11dd" providerId="LiveId" clId="{14CEA08E-1448-44CA-9C8D-2EBC1D86494C}" dt="2026-05-14T06:14:33.523" v="281"/>
          <ac:spMkLst>
            <pc:docMk/>
            <pc:sldMk cId="0" sldId="259"/>
            <ac:spMk id="9" creationId="{B5709391-F558-4F12-B346-7F8118EA7228}"/>
          </ac:spMkLst>
        </pc:spChg>
      </pc:sldChg>
      <pc:sldChg chg="addSp modSp mod">
        <pc:chgData name="희석 황" userId="1344bc0b7afb11dd" providerId="LiveId" clId="{14CEA08E-1448-44CA-9C8D-2EBC1D86494C}" dt="2026-05-14T06:21:11.467" v="524" actId="404"/>
        <pc:sldMkLst>
          <pc:docMk/>
          <pc:sldMk cId="0" sldId="260"/>
        </pc:sldMkLst>
        <pc:spChg chg="mod">
          <ac:chgData name="희석 황" userId="1344bc0b7afb11dd" providerId="LiveId" clId="{14CEA08E-1448-44CA-9C8D-2EBC1D86494C}" dt="2026-05-14T06:14:41.787" v="308"/>
          <ac:spMkLst>
            <pc:docMk/>
            <pc:sldMk cId="0" sldId="260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48.178" v="514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4:41.788" v="312"/>
          <ac:spMkLst>
            <pc:docMk/>
            <pc:sldMk cId="0" sldId="260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11.467" v="524" actId="404"/>
          <ac:spMkLst>
            <pc:docMk/>
            <pc:sldMk cId="0" sldId="260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4:41.788" v="316"/>
          <ac:spMkLst>
            <pc:docMk/>
            <pc:sldMk cId="0" sldId="260"/>
            <ac:spMk id="8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0:44.546" v="513" actId="404"/>
          <ac:spMkLst>
            <pc:docMk/>
            <pc:sldMk cId="0" sldId="260"/>
            <ac:spMk id="9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4:41.783" v="294"/>
          <ac:spMkLst>
            <pc:docMk/>
            <pc:sldMk cId="0" sldId="260"/>
            <ac:spMk id="10" creationId="{50B95F8B-1A52-4E77-B1DE-02622AC2B033}"/>
          </ac:spMkLst>
        </pc:spChg>
        <pc:spChg chg="add mod ord">
          <ac:chgData name="희석 황" userId="1344bc0b7afb11dd" providerId="LiveId" clId="{14CEA08E-1448-44CA-9C8D-2EBC1D86494C}" dt="2026-05-14T06:14:41.785" v="299"/>
          <ac:spMkLst>
            <pc:docMk/>
            <pc:sldMk cId="0" sldId="260"/>
            <ac:spMk id="11" creationId="{CAA80163-C7EF-4C06-A99F-33937D3BB130}"/>
          </ac:spMkLst>
        </pc:spChg>
        <pc:spChg chg="add mod ord">
          <ac:chgData name="희석 황" userId="1344bc0b7afb11dd" providerId="LiveId" clId="{14CEA08E-1448-44CA-9C8D-2EBC1D86494C}" dt="2026-05-14T06:14:41.786" v="304"/>
          <ac:spMkLst>
            <pc:docMk/>
            <pc:sldMk cId="0" sldId="260"/>
            <ac:spMk id="12" creationId="{C8FD56C1-30C1-455D-8010-58D5975AE402}"/>
          </ac:spMkLst>
        </pc:spChg>
      </pc:sldChg>
      <pc:sldChg chg="addSp delSp modSp mod">
        <pc:chgData name="희석 황" userId="1344bc0b7afb11dd" providerId="LiveId" clId="{14CEA08E-1448-44CA-9C8D-2EBC1D86494C}" dt="2026-05-14T06:16:12.574" v="448"/>
        <pc:sldMkLst>
          <pc:docMk/>
          <pc:sldMk cId="0" sldId="261"/>
        </pc:sldMkLst>
        <pc:spChg chg="del">
          <ac:chgData name="희석 황" userId="1344bc0b7afb11dd" providerId="LiveId" clId="{14CEA08E-1448-44CA-9C8D-2EBC1D86494C}" dt="2026-05-13T15:48:24.199" v="21" actId="478"/>
          <ac:spMkLst>
            <pc:docMk/>
            <pc:sldMk cId="0" sldId="261"/>
            <ac:spMk id="4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6:12.574" v="448"/>
          <ac:spMkLst>
            <pc:docMk/>
            <pc:sldMk cId="0" sldId="261"/>
            <ac:spMk id="4" creationId="{C19C6301-B180-45C4-A4DC-F939A0930E4F}"/>
          </ac:spMkLst>
        </pc:spChg>
        <pc:spChg chg="mod">
          <ac:chgData name="희석 황" userId="1344bc0b7afb11dd" providerId="LiveId" clId="{14CEA08E-1448-44CA-9C8D-2EBC1D86494C}" dt="2026-05-14T06:15:47.549" v="434"/>
          <ac:spMkLst>
            <pc:docMk/>
            <pc:sldMk cId="0" sldId="261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47.549" v="437"/>
          <ac:spMkLst>
            <pc:docMk/>
            <pc:sldMk cId="0" sldId="261"/>
            <ac:spMk id="6" creationId="{00000000-0000-0000-0000-000000000000}"/>
          </ac:spMkLst>
        </pc:spChg>
        <pc:picChg chg="add mod">
          <ac:chgData name="희석 황" userId="1344bc0b7afb11dd" providerId="LiveId" clId="{14CEA08E-1448-44CA-9C8D-2EBC1D86494C}" dt="2026-05-13T15:48:37.737" v="29" actId="1076"/>
          <ac:picMkLst>
            <pc:docMk/>
            <pc:sldMk cId="0" sldId="261"/>
            <ac:picMk id="8" creationId="{F9AE9CE8-A0A6-819A-59DE-4EC2EDFCAA3B}"/>
          </ac:picMkLst>
        </pc:picChg>
      </pc:sldChg>
      <pc:sldChg chg="addSp delSp modSp mod">
        <pc:chgData name="희석 황" userId="1344bc0b7afb11dd" providerId="LiveId" clId="{14CEA08E-1448-44CA-9C8D-2EBC1D86494C}" dt="2026-05-14T06:15:51.237" v="446"/>
        <pc:sldMkLst>
          <pc:docMk/>
          <pc:sldMk cId="0" sldId="262"/>
        </pc:sldMkLst>
        <pc:spChg chg="del">
          <ac:chgData name="희석 황" userId="1344bc0b7afb11dd" providerId="LiveId" clId="{14CEA08E-1448-44CA-9C8D-2EBC1D86494C}" dt="2026-05-13T15:48:49.934" v="30" actId="478"/>
          <ac:spMkLst>
            <pc:docMk/>
            <pc:sldMk cId="0" sldId="262"/>
            <ac:spMk id="4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5:51.237" v="442"/>
          <ac:spMkLst>
            <pc:docMk/>
            <pc:sldMk cId="0" sldId="262"/>
            <ac:spMk id="4" creationId="{968F2926-5923-4633-980D-A8DA4E7A552D}"/>
          </ac:spMkLst>
        </pc:spChg>
        <pc:spChg chg="mod">
          <ac:chgData name="희석 황" userId="1344bc0b7afb11dd" providerId="LiveId" clId="{14CEA08E-1448-44CA-9C8D-2EBC1D86494C}" dt="2026-05-14T06:15:51.237" v="444"/>
          <ac:spMkLst>
            <pc:docMk/>
            <pc:sldMk cId="0" sldId="262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51.237" v="446"/>
          <ac:spMkLst>
            <pc:docMk/>
            <pc:sldMk cId="0" sldId="262"/>
            <ac:spMk id="6" creationId="{00000000-0000-0000-0000-000000000000}"/>
          </ac:spMkLst>
        </pc:spChg>
        <pc:picChg chg="add mod">
          <ac:chgData name="희석 황" userId="1344bc0b7afb11dd" providerId="LiveId" clId="{14CEA08E-1448-44CA-9C8D-2EBC1D86494C}" dt="2026-05-13T15:49:09.516" v="38" actId="27614"/>
          <ac:picMkLst>
            <pc:docMk/>
            <pc:sldMk cId="0" sldId="262"/>
            <ac:picMk id="8" creationId="{B69E3F22-7ECD-B342-7647-EAB5644EBA86}"/>
          </ac:picMkLst>
        </pc:picChg>
      </pc:sldChg>
      <pc:sldChg chg="addSp modSp mod">
        <pc:chgData name="희석 황" userId="1344bc0b7afb11dd" providerId="LiveId" clId="{14CEA08E-1448-44CA-9C8D-2EBC1D86494C}" dt="2026-05-14T06:21:54.518" v="542" actId="403"/>
        <pc:sldMkLst>
          <pc:docMk/>
          <pc:sldMk cId="0" sldId="263"/>
        </pc:sldMkLst>
        <pc:spChg chg="mod">
          <ac:chgData name="희석 황" userId="1344bc0b7afb11dd" providerId="LiveId" clId="{14CEA08E-1448-44CA-9C8D-2EBC1D86494C}" dt="2026-05-13T15:49:12.716" v="3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23.378" v="52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54.518" v="542" actId="403"/>
          <ac:spMkLst>
            <pc:docMk/>
            <pc:sldMk cId="0" sldId="263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47.768" v="538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52.750" v="541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50.378" v="540" actId="403"/>
          <ac:spMkLst>
            <pc:docMk/>
            <pc:sldMk cId="0" sldId="263"/>
            <ac:spMk id="8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5:04.685" v="323"/>
          <ac:spMkLst>
            <pc:docMk/>
            <pc:sldMk cId="0" sldId="263"/>
            <ac:spMk id="9" creationId="{A7A874A3-AAE6-4158-880E-7C3CBB220015}"/>
          </ac:spMkLst>
        </pc:spChg>
        <pc:spChg chg="add mod ord">
          <ac:chgData name="희석 황" userId="1344bc0b7afb11dd" providerId="LiveId" clId="{14CEA08E-1448-44CA-9C8D-2EBC1D86494C}" dt="2026-05-14T06:15:04.687" v="328"/>
          <ac:spMkLst>
            <pc:docMk/>
            <pc:sldMk cId="0" sldId="263"/>
            <ac:spMk id="10" creationId="{6B451BD4-26DA-4094-A545-AAB7666AAF8F}"/>
          </ac:spMkLst>
        </pc:spChg>
        <pc:spChg chg="add mod ord">
          <ac:chgData name="희석 황" userId="1344bc0b7afb11dd" providerId="LiveId" clId="{14CEA08E-1448-44CA-9C8D-2EBC1D86494C}" dt="2026-05-14T06:15:04.688" v="333"/>
          <ac:spMkLst>
            <pc:docMk/>
            <pc:sldMk cId="0" sldId="263"/>
            <ac:spMk id="11" creationId="{2B0210B1-C3CF-448E-8402-AC22FC47CAF1}"/>
          </ac:spMkLst>
        </pc:spChg>
      </pc:sldChg>
      <pc:sldChg chg="addSp modSp mod">
        <pc:chgData name="희석 황" userId="1344bc0b7afb11dd" providerId="LiveId" clId="{14CEA08E-1448-44CA-9C8D-2EBC1D86494C}" dt="2026-05-14T06:21:57.848" v="543" actId="403"/>
        <pc:sldMkLst>
          <pc:docMk/>
          <pc:sldMk cId="0" sldId="264"/>
        </pc:sldMkLst>
        <pc:spChg chg="mod">
          <ac:chgData name="희석 황" userId="1344bc0b7afb11dd" providerId="LiveId" clId="{14CEA08E-1448-44CA-9C8D-2EBC1D86494C}" dt="2026-05-13T15:49:16.747" v="40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09.699" v="360"/>
          <ac:spMkLst>
            <pc:docMk/>
            <pc:sldMk cId="0" sldId="264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57.848" v="543" actId="403"/>
          <ac:spMkLst>
            <pc:docMk/>
            <pc:sldMk cId="0" sldId="264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45.148" v="536" actId="403"/>
          <ac:spMkLst>
            <pc:docMk/>
            <pc:sldMk cId="0" sldId="264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57.848" v="543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43.083" v="534" actId="403"/>
          <ac:spMkLst>
            <pc:docMk/>
            <pc:sldMk cId="0" sldId="264"/>
            <ac:spMk id="8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5:09.695" v="348"/>
          <ac:spMkLst>
            <pc:docMk/>
            <pc:sldMk cId="0" sldId="264"/>
            <ac:spMk id="9" creationId="{8C4E7AA2-9EB5-4D0D-82F7-614B1576073E}"/>
          </ac:spMkLst>
        </pc:spChg>
        <pc:spChg chg="add mod ord">
          <ac:chgData name="희석 황" userId="1344bc0b7afb11dd" providerId="LiveId" clId="{14CEA08E-1448-44CA-9C8D-2EBC1D86494C}" dt="2026-05-14T06:15:09.696" v="353"/>
          <ac:spMkLst>
            <pc:docMk/>
            <pc:sldMk cId="0" sldId="264"/>
            <ac:spMk id="10" creationId="{F9884BC9-F160-4010-998A-A8012EE7A037}"/>
          </ac:spMkLst>
        </pc:spChg>
        <pc:spChg chg="add mod ord">
          <ac:chgData name="희석 황" userId="1344bc0b7afb11dd" providerId="LiveId" clId="{14CEA08E-1448-44CA-9C8D-2EBC1D86494C}" dt="2026-05-14T06:15:09.697" v="358"/>
          <ac:spMkLst>
            <pc:docMk/>
            <pc:sldMk cId="0" sldId="264"/>
            <ac:spMk id="11" creationId="{C4ADD137-B541-43C6-A7B2-7179AD8F3FD9}"/>
          </ac:spMkLst>
        </pc:spChg>
      </pc:sldChg>
      <pc:sldChg chg="addSp modSp mod">
        <pc:chgData name="희석 황" userId="1344bc0b7afb11dd" providerId="LiveId" clId="{14CEA08E-1448-44CA-9C8D-2EBC1D86494C}" dt="2026-05-14T06:22:17.658" v="547" actId="20577"/>
        <pc:sldMkLst>
          <pc:docMk/>
          <pc:sldMk cId="0" sldId="265"/>
        </pc:sldMkLst>
        <pc:spChg chg="mod">
          <ac:chgData name="희석 황" userId="1344bc0b7afb11dd" providerId="LiveId" clId="{14CEA08E-1448-44CA-9C8D-2EBC1D86494C}" dt="2026-05-13T15:49:22.342" v="41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15.014" v="385"/>
          <ac:spMkLst>
            <pc:docMk/>
            <pc:sldMk cId="0" sldId="265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2:00.881" v="544" actId="403"/>
          <ac:spMkLst>
            <pc:docMk/>
            <pc:sldMk cId="0" sldId="265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2:17.658" v="547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2:00.881" v="544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1:37.830" v="530" actId="403"/>
          <ac:spMkLst>
            <pc:docMk/>
            <pc:sldMk cId="0" sldId="265"/>
            <ac:spMk id="8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5:15.009" v="373"/>
          <ac:spMkLst>
            <pc:docMk/>
            <pc:sldMk cId="0" sldId="265"/>
            <ac:spMk id="9" creationId="{B5CDE21D-74D4-4595-BDC9-8EC51BB06B67}"/>
          </ac:spMkLst>
        </pc:spChg>
        <pc:spChg chg="add mod ord">
          <ac:chgData name="희석 황" userId="1344bc0b7afb11dd" providerId="LiveId" clId="{14CEA08E-1448-44CA-9C8D-2EBC1D86494C}" dt="2026-05-14T06:15:15.010" v="378"/>
          <ac:spMkLst>
            <pc:docMk/>
            <pc:sldMk cId="0" sldId="265"/>
            <ac:spMk id="10" creationId="{291194FF-CD48-46E0-A77F-FB09EB3102C1}"/>
          </ac:spMkLst>
        </pc:spChg>
        <pc:spChg chg="add mod ord">
          <ac:chgData name="희석 황" userId="1344bc0b7afb11dd" providerId="LiveId" clId="{14CEA08E-1448-44CA-9C8D-2EBC1D86494C}" dt="2026-05-14T06:15:15.013" v="383"/>
          <ac:spMkLst>
            <pc:docMk/>
            <pc:sldMk cId="0" sldId="265"/>
            <ac:spMk id="11" creationId="{B454E154-2EC4-4812-A434-F4A55491CCB3}"/>
          </ac:spMkLst>
        </pc:spChg>
      </pc:sldChg>
      <pc:sldChg chg="addSp modSp mod">
        <pc:chgData name="희석 황" userId="1344bc0b7afb11dd" providerId="LiveId" clId="{14CEA08E-1448-44CA-9C8D-2EBC1D86494C}" dt="2026-05-14T06:23:45.227" v="573" actId="20577"/>
        <pc:sldMkLst>
          <pc:docMk/>
          <pc:sldMk cId="0" sldId="266"/>
        </pc:sldMkLst>
        <pc:spChg chg="mod">
          <ac:chgData name="희석 황" userId="1344bc0b7afb11dd" providerId="LiveId" clId="{14CEA08E-1448-44CA-9C8D-2EBC1D86494C}" dt="2026-05-14T06:15:32.488" v="410"/>
          <ac:spMkLst>
            <pc:docMk/>
            <pc:sldMk cId="0" sldId="266"/>
            <ac:spMk id="4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2:31.770" v="551" actId="403"/>
          <ac:spMkLst>
            <pc:docMk/>
            <pc:sldMk cId="0" sldId="266"/>
            <ac:spMk id="5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32.489" v="414"/>
          <ac:spMkLst>
            <pc:docMk/>
            <pc:sldMk cId="0" sldId="266"/>
            <ac:spMk id="6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2:26.958" v="548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희석 황" userId="1344bc0b7afb11dd" providerId="LiveId" clId="{14CEA08E-1448-44CA-9C8D-2EBC1D86494C}" dt="2026-05-14T06:15:32.489" v="418"/>
          <ac:spMkLst>
            <pc:docMk/>
            <pc:sldMk cId="0" sldId="266"/>
            <ac:spMk id="8" creationId="{00000000-0000-0000-0000-000000000000}"/>
          </ac:spMkLst>
        </pc:spChg>
        <pc:spChg chg="mod">
          <ac:chgData name="희석 황" userId="1344bc0b7afb11dd" providerId="LiveId" clId="{14CEA08E-1448-44CA-9C8D-2EBC1D86494C}" dt="2026-05-14T06:23:45.227" v="573" actId="20577"/>
          <ac:spMkLst>
            <pc:docMk/>
            <pc:sldMk cId="0" sldId="266"/>
            <ac:spMk id="9" creationId="{00000000-0000-0000-0000-000000000000}"/>
          </ac:spMkLst>
        </pc:spChg>
        <pc:spChg chg="add mod ord">
          <ac:chgData name="희석 황" userId="1344bc0b7afb11dd" providerId="LiveId" clId="{14CEA08E-1448-44CA-9C8D-2EBC1D86494C}" dt="2026-05-14T06:16:29.980" v="450"/>
          <ac:spMkLst>
            <pc:docMk/>
            <pc:sldMk cId="0" sldId="266"/>
            <ac:spMk id="10" creationId="{345DCDF4-C72B-4EBB-B1FD-46FA633131DA}"/>
          </ac:spMkLst>
        </pc:spChg>
        <pc:spChg chg="add mod ord">
          <ac:chgData name="희석 황" userId="1344bc0b7afb11dd" providerId="LiveId" clId="{14CEA08E-1448-44CA-9C8D-2EBC1D86494C}" dt="2026-05-14T06:16:29.980" v="451"/>
          <ac:spMkLst>
            <pc:docMk/>
            <pc:sldMk cId="0" sldId="266"/>
            <ac:spMk id="11" creationId="{E03798E4-B1CE-42B2-82A0-57FBFCF4A4EC}"/>
          </ac:spMkLst>
        </pc:spChg>
        <pc:spChg chg="add mod ord">
          <ac:chgData name="희석 황" userId="1344bc0b7afb11dd" providerId="LiveId" clId="{14CEA08E-1448-44CA-9C8D-2EBC1D86494C}" dt="2026-05-14T06:15:32.487" v="408"/>
          <ac:spMkLst>
            <pc:docMk/>
            <pc:sldMk cId="0" sldId="266"/>
            <ac:spMk id="12" creationId="{27950D27-C00A-415B-B4DA-1C0C73351140}"/>
          </ac:spMkLst>
        </pc:spChg>
      </pc:sldChg>
      <pc:sldChg chg="addSp delSp modSp mod">
        <pc:chgData name="희석 황" userId="1344bc0b7afb11dd" providerId="LiveId" clId="{14CEA08E-1448-44CA-9C8D-2EBC1D86494C}" dt="2026-05-14T06:24:13.749" v="576"/>
        <pc:sldMkLst>
          <pc:docMk/>
          <pc:sldMk cId="0" sldId="267"/>
        </pc:sldMkLst>
        <pc:spChg chg="mod">
          <ac:chgData name="희석 황" userId="1344bc0b7afb11dd" providerId="LiveId" clId="{14CEA08E-1448-44CA-9C8D-2EBC1D86494C}" dt="2026-05-14T06:15:36.542" v="422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희석 황" userId="1344bc0b7afb11dd" providerId="LiveId" clId="{14CEA08E-1448-44CA-9C8D-2EBC1D86494C}" dt="2026-05-14T06:24:13.749" v="576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희석 황" userId="1344bc0b7afb11dd" providerId="LiveId" clId="{14CEA08E-1448-44CA-9C8D-2EBC1D86494C}" dt="2026-05-14T06:15:36.544" v="425"/>
          <ac:spMkLst>
            <pc:docMk/>
            <pc:sldMk cId="0" sldId="267"/>
            <ac:spMk id="4" creationId="{718BF9CA-ABD8-4D40-9BF6-C2A080DEB2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9472" y="139700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1F4E79"/>
                </a:solidFill>
              </a:rPr>
              <a:t>금융모형과 기계학습 모형을 이용한 </a:t>
            </a:r>
            <a:r>
              <a:rPr lang="ko-KR" altLang="en-US" sz="2800" b="1" dirty="0" err="1">
                <a:solidFill>
                  <a:srgbClr val="1F4E79"/>
                </a:solidFill>
              </a:rPr>
              <a:t>다국가</a:t>
            </a:r>
            <a:r>
              <a:rPr lang="ko-KR" altLang="en-US" sz="2800" b="1" dirty="0">
                <a:solidFill>
                  <a:srgbClr val="1F4E79"/>
                </a:solidFill>
              </a:rPr>
              <a:t> 실현변동성 예측</a:t>
            </a:r>
            <a:endParaRPr lang="en-US" altLang="ko-KR" sz="2800" b="1" dirty="0">
              <a:solidFill>
                <a:srgbClr val="1F4E79"/>
              </a:solidFill>
            </a:endParaRPr>
          </a:p>
          <a:p>
            <a:pPr algn="ctr"/>
            <a:r>
              <a:rPr lang="en-US" altLang="ko-KR" sz="2800" b="1" dirty="0">
                <a:solidFill>
                  <a:srgbClr val="1F4E79"/>
                </a:solidFill>
              </a:rPr>
              <a:t>: </a:t>
            </a:r>
            <a:r>
              <a:rPr lang="ko-KR" altLang="en-US" sz="2800" b="1" dirty="0">
                <a:solidFill>
                  <a:srgbClr val="1F4E79"/>
                </a:solidFill>
              </a:rPr>
              <a:t>거시 구간 및 시장 특성에 따른 차별적 효과 분석</a:t>
            </a:r>
            <a:endParaRPr sz="2800" b="1" dirty="0">
              <a:solidFill>
                <a:srgbClr val="1F4E7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984500"/>
            <a:ext cx="11274552" cy="406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팀명: FINTEL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67100"/>
            <a:ext cx="11274552" cy="406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팀원: 황희석(팀장) · 구교현 · 송준혁 · 이건희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00500"/>
            <a:ext cx="11274552" cy="355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DSC3028 데이터사이언스캡스톤프로젝트 / 담당교수: 정미나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45000"/>
            <a:ext cx="11274552" cy="304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 dirty="0" err="1">
                <a:solidFill>
                  <a:srgbClr val="666666"/>
                </a:solidFill>
              </a:rPr>
              <a:t>성균관대학교</a:t>
            </a:r>
            <a:r>
              <a:rPr sz="1400" b="0" dirty="0">
                <a:solidFill>
                  <a:srgbClr val="666666"/>
                </a:solidFill>
              </a:rPr>
              <a:t> </a:t>
            </a:r>
            <a:r>
              <a:rPr sz="1400" b="0" dirty="0" err="1">
                <a:solidFill>
                  <a:srgbClr val="666666"/>
                </a:solidFill>
              </a:rPr>
              <a:t>글로벌융합학부</a:t>
            </a:r>
            <a:r>
              <a:rPr sz="1400" b="0">
                <a:solidFill>
                  <a:srgbClr val="666666"/>
                </a:solidFill>
              </a:rPr>
              <a:t> · 2026.05.1</a:t>
            </a:r>
            <a:r>
              <a:rPr lang="en-US" sz="1400" b="0">
                <a:solidFill>
                  <a:srgbClr val="666666"/>
                </a:solidFill>
              </a:rPr>
              <a:t>5</a:t>
            </a:r>
            <a:endParaRPr sz="1400" b="0">
              <a:solidFill>
                <a:srgbClr val="666666"/>
              </a:solidFill>
            </a:endParaRPr>
          </a:p>
        </p:txBody>
      </p:sp>
      <p:sp>
        <p:nvSpPr>
          <p:cNvPr id="3" name="TitleDivider">
            <a:extLst>
              <a:ext uri="{FF2B5EF4-FFF2-40B4-BE49-F238E27FC236}">
                <a16:creationId xmlns:a16="http://schemas.microsoft.com/office/drawing/2014/main" id="{12C6B14B-8597-4735-9E21-231C376C85D3}"/>
              </a:ext>
            </a:extLst>
          </p:cNvPr>
          <p:cNvSpPr/>
          <p:nvPr/>
        </p:nvSpPr>
        <p:spPr>
          <a:xfrm>
            <a:off x="5461000" y="2730500"/>
            <a:ext cx="1270000" cy="25400"/>
          </a:xfrm>
          <a:prstGeom prst="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5792A8-F65B-4DF6-B932-CCC203B61DE2}"/>
              </a:ext>
            </a:extLst>
          </p:cNvPr>
          <p:cNvSpPr/>
          <p:nvPr/>
        </p:nvSpPr>
        <p:spPr>
          <a:xfrm>
            <a:off x="6299200" y="1066800"/>
            <a:ext cx="5537200" cy="52324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B8024E-36A2-41A4-B6DF-30E2041535C1}"/>
              </a:ext>
            </a:extLst>
          </p:cNvPr>
          <p:cNvSpPr/>
          <p:nvPr/>
        </p:nvSpPr>
        <p:spPr>
          <a:xfrm>
            <a:off x="355600" y="3759200"/>
            <a:ext cx="5816600" cy="2540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F2ED6B7-28DC-49A6-901E-8C0C5A2F445E}"/>
              </a:ext>
            </a:extLst>
          </p:cNvPr>
          <p:cNvSpPr/>
          <p:nvPr/>
        </p:nvSpPr>
        <p:spPr>
          <a:xfrm>
            <a:off x="355600" y="1066800"/>
            <a:ext cx="5816600" cy="24892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1. 연구 배경 및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변동성 예측의 중요성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53340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변동성 = 시장 위험·불확실성의 핵심 지표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포트폴리오 위험관리·자산배분·파생상품 가격결정의 직접적 input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외생 충격 시 변동성 폭증 + 국가 간 동조화 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8735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기존 baseline의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330700"/>
            <a:ext cx="53340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GARCH·HAR-RV는 univariate 자기상관 구조만 활용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거시변수·spillover·비선형 관계 학습 불가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</a:rPr>
              <a:t>• 위기 시 결합분포 구조 변화 포착 어려움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1143000"/>
            <a:ext cx="5207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연구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600200"/>
            <a:ext cx="52070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• Q1. 금융모형과 ML 모형 중 어느 접근이 국가별 RV 예측에서 더 낮은 오차를 산출하는가?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• Q2. 평시·위기 구간에서 유효한 정보집합과 최적 모형은 어떻게 변화하는가?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• Q3. Core → Momentum → Extended 정보 확장은 단조적 개선을 보이는가, 시장·구간별 차별성을 보이는가?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</a:rPr>
              <a:t>• Q4. ML 모형의 RV 예측 성능 개선을 위해 어떠한 모델 설계가 필요한가?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rd2">
            <a:extLst>
              <a:ext uri="{FF2B5EF4-FFF2-40B4-BE49-F238E27FC236}">
                <a16:creationId xmlns:a16="http://schemas.microsoft.com/office/drawing/2014/main" id="{17462219-0586-49DE-9C92-55788F454259}"/>
              </a:ext>
            </a:extLst>
          </p:cNvPr>
          <p:cNvSpPr/>
          <p:nvPr/>
        </p:nvSpPr>
        <p:spPr>
          <a:xfrm>
            <a:off x="355600" y="3759200"/>
            <a:ext cx="11480800" cy="2540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492A43A5-DF9B-431A-A41F-C4D0B6EDD115}"/>
              </a:ext>
            </a:extLst>
          </p:cNvPr>
          <p:cNvSpPr/>
          <p:nvPr/>
        </p:nvSpPr>
        <p:spPr>
          <a:xfrm>
            <a:off x="355600" y="1066800"/>
            <a:ext cx="11480800" cy="28067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2. 데이터 (1) — 출처 · 시장 · 구간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1049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데이터 출처 (2000.01 ~ 2022.06, 약 23년)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11049000" cy="1785104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예측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타깃</a:t>
            </a:r>
            <a:r>
              <a:rPr b="1" dirty="0">
                <a:solidFill>
                  <a:srgbClr val="000000"/>
                </a:solidFill>
              </a:rPr>
              <a:t>: Oxford-Man Realized Library — 5분 </a:t>
            </a:r>
            <a:r>
              <a:rPr b="1" dirty="0" err="1">
                <a:solidFill>
                  <a:srgbClr val="000000"/>
                </a:solidFill>
              </a:rPr>
              <a:t>고빈도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수익률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기반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일별</a:t>
            </a:r>
            <a:r>
              <a:rPr b="1" dirty="0">
                <a:solidFill>
                  <a:srgbClr val="000000"/>
                </a:solidFill>
              </a:rPr>
              <a:t> RV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시장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가격</a:t>
            </a:r>
            <a:r>
              <a:rPr b="1" dirty="0">
                <a:solidFill>
                  <a:srgbClr val="000000"/>
                </a:solidFill>
              </a:rPr>
              <a:t>(OHLCV, </a:t>
            </a:r>
            <a:r>
              <a:rPr b="1" dirty="0" err="1">
                <a:solidFill>
                  <a:srgbClr val="000000"/>
                </a:solidFill>
              </a:rPr>
              <a:t>로그수익률</a:t>
            </a:r>
            <a:r>
              <a:rPr b="1" dirty="0">
                <a:solidFill>
                  <a:srgbClr val="000000"/>
                </a:solidFill>
              </a:rPr>
              <a:t>): </a:t>
            </a:r>
            <a:r>
              <a:rPr b="1" dirty="0" err="1">
                <a:solidFill>
                  <a:srgbClr val="000000"/>
                </a:solidFill>
              </a:rPr>
              <a:t>DataGuide</a:t>
            </a:r>
            <a:r>
              <a:rPr b="1" dirty="0">
                <a:solidFill>
                  <a:srgbClr val="000000"/>
                </a:solidFill>
              </a:rPr>
              <a:t> / </a:t>
            </a:r>
            <a:r>
              <a:rPr b="1" dirty="0" err="1">
                <a:solidFill>
                  <a:srgbClr val="000000"/>
                </a:solidFill>
              </a:rPr>
              <a:t>Fnguide</a:t>
            </a:r>
            <a:endParaRPr b="1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내재변동성·금리</a:t>
            </a:r>
            <a:r>
              <a:rPr b="1" dirty="0">
                <a:solidFill>
                  <a:srgbClr val="000000"/>
                </a:solidFill>
              </a:rPr>
              <a:t>: Bloomberg Terminal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환율·원자재</a:t>
            </a:r>
            <a:r>
              <a:rPr b="1" dirty="0">
                <a:solidFill>
                  <a:srgbClr val="000000"/>
                </a:solidFill>
              </a:rPr>
              <a:t>(</a:t>
            </a:r>
            <a:r>
              <a:rPr b="1" dirty="0" err="1">
                <a:solidFill>
                  <a:srgbClr val="000000"/>
                </a:solidFill>
              </a:rPr>
              <a:t>WTI·Gold·CRB</a:t>
            </a:r>
            <a:r>
              <a:rPr b="1" dirty="0">
                <a:solidFill>
                  <a:srgbClr val="000000"/>
                </a:solidFill>
              </a:rPr>
              <a:t>): Investing.com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경제정책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불확실성</a:t>
            </a:r>
            <a:r>
              <a:rPr b="1" dirty="0">
                <a:solidFill>
                  <a:srgbClr val="000000"/>
                </a:solidFill>
              </a:rPr>
              <a:t>(EPU): PolicyUncertainty.com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005900"/>
            <a:ext cx="110490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>
                <a:solidFill>
                  <a:srgbClr val="1F4E79"/>
                </a:solidFill>
              </a:rPr>
              <a:t>■ </a:t>
            </a:r>
            <a:r>
              <a:rPr sz="1800" b="1" dirty="0" err="1">
                <a:solidFill>
                  <a:srgbClr val="1F4E79"/>
                </a:solidFill>
              </a:rPr>
              <a:t>분석</a:t>
            </a:r>
            <a:r>
              <a:rPr sz="1800" b="1" dirty="0">
                <a:solidFill>
                  <a:srgbClr val="1F4E79"/>
                </a:solidFill>
              </a:rPr>
              <a:t> </a:t>
            </a:r>
            <a:r>
              <a:rPr sz="1800" b="1" dirty="0" err="1">
                <a:solidFill>
                  <a:srgbClr val="1F4E79"/>
                </a:solidFill>
              </a:rPr>
              <a:t>단위</a:t>
            </a:r>
            <a:r>
              <a:rPr sz="1800" b="1" dirty="0">
                <a:solidFill>
                  <a:srgbClr val="1F4E79"/>
                </a:solidFill>
              </a:rPr>
              <a:t>: 3 </a:t>
            </a:r>
            <a:r>
              <a:rPr sz="1800" b="1" dirty="0" err="1">
                <a:solidFill>
                  <a:srgbClr val="1F4E79"/>
                </a:solidFill>
              </a:rPr>
              <a:t>시장</a:t>
            </a:r>
            <a:r>
              <a:rPr lang="en-US" sz="1800" b="1" dirty="0">
                <a:solidFill>
                  <a:srgbClr val="1F4E79"/>
                </a:solidFill>
              </a:rPr>
              <a:t>, </a:t>
            </a:r>
            <a:r>
              <a:rPr sz="1800" b="1" dirty="0">
                <a:solidFill>
                  <a:srgbClr val="1F4E79"/>
                </a:solidFill>
              </a:rPr>
              <a:t>4 </a:t>
            </a:r>
            <a:r>
              <a:rPr sz="1800" b="1" dirty="0" err="1">
                <a:solidFill>
                  <a:srgbClr val="1F4E79"/>
                </a:solidFill>
              </a:rPr>
              <a:t>구간</a:t>
            </a:r>
            <a:r>
              <a:rPr sz="1800" b="1" dirty="0">
                <a:solidFill>
                  <a:srgbClr val="1F4E79"/>
                </a:solidFill>
              </a:rPr>
              <a:t> = 12 (</a:t>
            </a:r>
            <a:r>
              <a:rPr sz="1800" b="1" dirty="0" err="1">
                <a:solidFill>
                  <a:srgbClr val="1F4E79"/>
                </a:solidFill>
              </a:rPr>
              <a:t>시장</a:t>
            </a:r>
            <a:r>
              <a:rPr sz="1800" b="1" dirty="0">
                <a:solidFill>
                  <a:srgbClr val="1F4E79"/>
                </a:solidFill>
              </a:rPr>
              <a:t>, </a:t>
            </a:r>
            <a:r>
              <a:rPr sz="1800" b="1" dirty="0" err="1">
                <a:solidFill>
                  <a:srgbClr val="1F4E79"/>
                </a:solidFill>
              </a:rPr>
              <a:t>구간</a:t>
            </a:r>
            <a:r>
              <a:rPr sz="1800" b="1" dirty="0">
                <a:solidFill>
                  <a:srgbClr val="1F4E79"/>
                </a:solidFill>
              </a:rPr>
              <a:t>) </a:t>
            </a:r>
            <a:r>
              <a:rPr sz="1800" b="1" dirty="0" err="1">
                <a:solidFill>
                  <a:srgbClr val="1F4E79"/>
                </a:solidFill>
              </a:rPr>
              <a:t>조합</a:t>
            </a:r>
            <a:endParaRPr sz="1800" b="1" dirty="0">
              <a:solidFill>
                <a:srgbClr val="1F4E7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000" y="4534192"/>
            <a:ext cx="11049000" cy="99001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시장</a:t>
            </a:r>
            <a:r>
              <a:rPr b="1" dirty="0">
                <a:solidFill>
                  <a:srgbClr val="000000"/>
                </a:solidFill>
              </a:rPr>
              <a:t>: S&amp;P 500 (US), KOSPI (KR), Nikkei 225 (JP)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거시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구간</a:t>
            </a:r>
            <a:r>
              <a:rPr b="1" dirty="0">
                <a:solidFill>
                  <a:srgbClr val="000000"/>
                </a:solidFill>
              </a:rPr>
              <a:t>: </a:t>
            </a:r>
            <a:r>
              <a:rPr b="1" dirty="0" err="1">
                <a:solidFill>
                  <a:srgbClr val="000000"/>
                </a:solidFill>
              </a:rPr>
              <a:t>평시</a:t>
            </a:r>
            <a:r>
              <a:rPr b="1" dirty="0">
                <a:solidFill>
                  <a:srgbClr val="000000"/>
                </a:solidFill>
              </a:rPr>
              <a:t>(Normal) · 9·11 · </a:t>
            </a:r>
            <a:r>
              <a:rPr b="1" dirty="0" err="1">
                <a:solidFill>
                  <a:srgbClr val="000000"/>
                </a:solidFill>
              </a:rPr>
              <a:t>글로벌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금융위기</a:t>
            </a:r>
            <a:r>
              <a:rPr b="1" dirty="0">
                <a:solidFill>
                  <a:srgbClr val="000000"/>
                </a:solidFill>
              </a:rPr>
              <a:t>(GFC) · COVID-19</a:t>
            </a:r>
          </a:p>
          <a:p>
            <a:pPr lvl="1">
              <a:spcAft>
                <a:spcPts val="400"/>
              </a:spcAft>
            </a:pPr>
            <a:r>
              <a:rPr sz="1400" b="1" dirty="0">
                <a:solidFill>
                  <a:srgbClr val="000000"/>
                </a:solidFill>
              </a:rPr>
              <a:t>–  9·11 — </a:t>
            </a:r>
            <a:r>
              <a:rPr sz="1400" b="1" dirty="0" err="1">
                <a:solidFill>
                  <a:srgbClr val="000000"/>
                </a:solidFill>
              </a:rPr>
              <a:t>지정학적</a:t>
            </a:r>
            <a:r>
              <a:rPr sz="1400" b="1" dirty="0">
                <a:solidFill>
                  <a:srgbClr val="000000"/>
                </a:solidFill>
              </a:rPr>
              <a:t> </a:t>
            </a:r>
            <a:r>
              <a:rPr sz="1400" b="1" dirty="0" err="1">
                <a:solidFill>
                  <a:srgbClr val="000000"/>
                </a:solidFill>
              </a:rPr>
              <a:t>충격</a:t>
            </a:r>
            <a:r>
              <a:rPr sz="1400" b="1" dirty="0">
                <a:solidFill>
                  <a:srgbClr val="000000"/>
                </a:solidFill>
              </a:rPr>
              <a:t> / GFC — </a:t>
            </a:r>
            <a:r>
              <a:rPr sz="1400" b="1" dirty="0" err="1">
                <a:solidFill>
                  <a:srgbClr val="000000"/>
                </a:solidFill>
              </a:rPr>
              <a:t>시스템적</a:t>
            </a:r>
            <a:r>
              <a:rPr sz="1400" b="1" dirty="0">
                <a:solidFill>
                  <a:srgbClr val="000000"/>
                </a:solidFill>
              </a:rPr>
              <a:t> </a:t>
            </a:r>
            <a:r>
              <a:rPr sz="1400" b="1" dirty="0" err="1">
                <a:solidFill>
                  <a:srgbClr val="000000"/>
                </a:solidFill>
              </a:rPr>
              <a:t>금융위기</a:t>
            </a:r>
            <a:r>
              <a:rPr sz="1400" b="1" dirty="0">
                <a:solidFill>
                  <a:srgbClr val="000000"/>
                </a:solidFill>
              </a:rPr>
              <a:t> / COVID-19 — </a:t>
            </a:r>
            <a:r>
              <a:rPr sz="1400" b="1" dirty="0" err="1">
                <a:solidFill>
                  <a:srgbClr val="000000"/>
                </a:solidFill>
              </a:rPr>
              <a:t>팬데믹</a:t>
            </a:r>
            <a:r>
              <a:rPr sz="1400" b="1" dirty="0">
                <a:solidFill>
                  <a:srgbClr val="000000"/>
                </a:solidFill>
              </a:rPr>
              <a:t> </a:t>
            </a:r>
            <a:r>
              <a:rPr sz="1400" b="1" dirty="0" err="1">
                <a:solidFill>
                  <a:srgbClr val="000000"/>
                </a:solidFill>
              </a:rPr>
              <a:t>충격</a:t>
            </a:r>
            <a:endParaRPr sz="14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5709391-F558-4F12-B346-7F8118EA7228}"/>
              </a:ext>
            </a:extLst>
          </p:cNvPr>
          <p:cNvSpPr/>
          <p:nvPr/>
        </p:nvSpPr>
        <p:spPr>
          <a:xfrm>
            <a:off x="6299200" y="1066800"/>
            <a:ext cx="5537200" cy="52324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E09115-0AC3-4F3A-B677-7FEDA03DE5BC}"/>
              </a:ext>
            </a:extLst>
          </p:cNvPr>
          <p:cNvSpPr/>
          <p:nvPr/>
        </p:nvSpPr>
        <p:spPr>
          <a:xfrm>
            <a:off x="355600" y="1066800"/>
            <a:ext cx="5816600" cy="52324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2. 데이터 (2) — Feature Tier ·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Feature Tier — 위계적 ablation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5334000" cy="210826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</a:rPr>
              <a:t>• Core (10개): </a:t>
            </a:r>
            <a:r>
              <a:rPr sz="1600" dirty="0" err="1">
                <a:solidFill>
                  <a:srgbClr val="000000"/>
                </a:solidFill>
              </a:rPr>
              <a:t>과거</a:t>
            </a:r>
            <a:r>
              <a:rPr sz="1600" dirty="0">
                <a:solidFill>
                  <a:srgbClr val="000000"/>
                </a:solidFill>
              </a:rPr>
              <a:t> RV, </a:t>
            </a:r>
            <a:r>
              <a:rPr sz="1600" dirty="0" err="1">
                <a:solidFill>
                  <a:srgbClr val="000000"/>
                </a:solidFill>
              </a:rPr>
              <a:t>수익률</a:t>
            </a:r>
            <a:r>
              <a:rPr sz="1600" dirty="0">
                <a:solidFill>
                  <a:srgbClr val="000000"/>
                </a:solidFill>
              </a:rPr>
              <a:t>, </a:t>
            </a:r>
            <a:r>
              <a:rPr sz="1600" dirty="0" err="1">
                <a:solidFill>
                  <a:srgbClr val="000000"/>
                </a:solidFill>
              </a:rPr>
              <a:t>하방위험</a:t>
            </a:r>
            <a:r>
              <a:rPr sz="1600" dirty="0">
                <a:solidFill>
                  <a:srgbClr val="000000"/>
                </a:solidFill>
              </a:rPr>
              <a:t> 등 </a:t>
            </a:r>
            <a:r>
              <a:rPr sz="1600" dirty="0" err="1">
                <a:solidFill>
                  <a:srgbClr val="000000"/>
                </a:solidFill>
              </a:rPr>
              <a:t>기본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시장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정보</a:t>
            </a:r>
            <a:endParaRPr sz="16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</a:rPr>
              <a:t>• Momentum (14개): + </a:t>
            </a:r>
            <a:r>
              <a:rPr sz="1600" dirty="0" err="1">
                <a:solidFill>
                  <a:srgbClr val="000000"/>
                </a:solidFill>
              </a:rPr>
              <a:t>변동성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추세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정보</a:t>
            </a:r>
            <a:r>
              <a:rPr sz="1600" dirty="0">
                <a:solidFill>
                  <a:srgbClr val="000000"/>
                </a:solidFill>
              </a:rPr>
              <a:t> (momentum_1w/1m/3m/6m)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</a:rPr>
              <a:t>• Extended (28개): + </a:t>
            </a:r>
            <a:r>
              <a:rPr sz="1600" dirty="0" err="1">
                <a:solidFill>
                  <a:srgbClr val="000000"/>
                </a:solidFill>
              </a:rPr>
              <a:t>금리·환율·원자재·EPU·내재변동성·국가</a:t>
            </a:r>
            <a:r>
              <a:rPr sz="1600" dirty="0">
                <a:solidFill>
                  <a:srgbClr val="000000"/>
                </a:solidFill>
              </a:rPr>
              <a:t> 간 spillover 등 </a:t>
            </a:r>
            <a:r>
              <a:rPr sz="1600" dirty="0" err="1">
                <a:solidFill>
                  <a:srgbClr val="000000"/>
                </a:solidFill>
              </a:rPr>
              <a:t>거시·외생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정보</a:t>
            </a:r>
            <a:endParaRPr sz="16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</a:rPr>
              <a:t>• </a:t>
            </a:r>
            <a:r>
              <a:rPr sz="1600" dirty="0" err="1">
                <a:solidFill>
                  <a:srgbClr val="000000"/>
                </a:solidFill>
              </a:rPr>
              <a:t>변수</a:t>
            </a:r>
            <a:r>
              <a:rPr sz="1600" dirty="0">
                <a:solidFill>
                  <a:srgbClr val="000000"/>
                </a:solidFill>
              </a:rPr>
              <a:t> </a:t>
            </a:r>
            <a:r>
              <a:rPr sz="1600" dirty="0" err="1">
                <a:solidFill>
                  <a:srgbClr val="000000"/>
                </a:solidFill>
              </a:rPr>
              <a:t>유형</a:t>
            </a:r>
            <a:r>
              <a:rPr sz="1600" dirty="0">
                <a:solidFill>
                  <a:srgbClr val="000000"/>
                </a:solidFill>
              </a:rPr>
              <a:t> 5종: </a:t>
            </a:r>
            <a:r>
              <a:rPr sz="1600" dirty="0" err="1">
                <a:solidFill>
                  <a:srgbClr val="000000"/>
                </a:solidFill>
              </a:rPr>
              <a:t>변동성</a:t>
            </a:r>
            <a:r>
              <a:rPr sz="1600" dirty="0">
                <a:solidFill>
                  <a:srgbClr val="000000"/>
                </a:solidFill>
              </a:rPr>
              <a:t> / </a:t>
            </a:r>
            <a:r>
              <a:rPr sz="1600" dirty="0" err="1">
                <a:solidFill>
                  <a:srgbClr val="000000"/>
                </a:solidFill>
              </a:rPr>
              <a:t>수익률</a:t>
            </a:r>
            <a:r>
              <a:rPr sz="1600" dirty="0">
                <a:solidFill>
                  <a:srgbClr val="000000"/>
                </a:solidFill>
              </a:rPr>
              <a:t> / </a:t>
            </a:r>
            <a:r>
              <a:rPr sz="1600" dirty="0" err="1">
                <a:solidFill>
                  <a:srgbClr val="000000"/>
                </a:solidFill>
              </a:rPr>
              <a:t>모멘텀</a:t>
            </a:r>
            <a:r>
              <a:rPr sz="1600" dirty="0">
                <a:solidFill>
                  <a:srgbClr val="000000"/>
                </a:solidFill>
              </a:rPr>
              <a:t> / </a:t>
            </a:r>
            <a:r>
              <a:rPr sz="1600" dirty="0" err="1">
                <a:solidFill>
                  <a:srgbClr val="000000"/>
                </a:solidFill>
              </a:rPr>
              <a:t>거시·외생</a:t>
            </a:r>
            <a:r>
              <a:rPr sz="1600" dirty="0">
                <a:solidFill>
                  <a:srgbClr val="000000"/>
                </a:solidFill>
              </a:rPr>
              <a:t> / </a:t>
            </a:r>
            <a:r>
              <a:rPr sz="1600" dirty="0" err="1">
                <a:solidFill>
                  <a:srgbClr val="000000"/>
                </a:solidFill>
              </a:rPr>
              <a:t>캘린더</a:t>
            </a: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0" y="1143000"/>
            <a:ext cx="5207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전처리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1600200"/>
            <a:ext cx="5207000" cy="2062103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변동성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계열</a:t>
            </a:r>
            <a:r>
              <a:rPr b="0" dirty="0">
                <a:solidFill>
                  <a:srgbClr val="000000"/>
                </a:solidFill>
              </a:rPr>
              <a:t>: log1p + </a:t>
            </a:r>
            <a:r>
              <a:rPr b="0" dirty="0" err="1">
                <a:solidFill>
                  <a:srgbClr val="000000"/>
                </a:solidFill>
              </a:rPr>
              <a:t>RobustScaler</a:t>
            </a:r>
            <a:r>
              <a:rPr b="0" dirty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수익률·원자재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RobustScaler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단독</a:t>
            </a:r>
            <a:endParaRPr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거시·spillover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결측</a:t>
            </a:r>
            <a:r>
              <a:rPr b="0" dirty="0">
                <a:solidFill>
                  <a:srgbClr val="000000"/>
                </a:solidFill>
              </a:rPr>
              <a:t>: Forward-fill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shift(1) </a:t>
            </a:r>
            <a:r>
              <a:rPr b="0" dirty="0" err="1">
                <a:solidFill>
                  <a:srgbClr val="000000"/>
                </a:solidFill>
              </a:rPr>
              <a:t>적용</a:t>
            </a:r>
            <a:r>
              <a:rPr b="0" dirty="0">
                <a:solidFill>
                  <a:srgbClr val="000000"/>
                </a:solidFill>
              </a:rPr>
              <a:t> — </a:t>
            </a:r>
            <a:r>
              <a:rPr b="0" dirty="0" err="1">
                <a:solidFill>
                  <a:srgbClr val="000000"/>
                </a:solidFill>
              </a:rPr>
              <a:t>미래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정보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누수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차단</a:t>
            </a:r>
            <a:endParaRPr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Scaler는</a:t>
            </a:r>
            <a:r>
              <a:rPr b="0" dirty="0">
                <a:solidFill>
                  <a:srgbClr val="000000"/>
                </a:solidFill>
              </a:rPr>
              <a:t> Train </a:t>
            </a:r>
            <a:r>
              <a:rPr b="0" dirty="0" err="1">
                <a:solidFill>
                  <a:srgbClr val="000000"/>
                </a:solidFill>
              </a:rPr>
              <a:t>데이터로만</a:t>
            </a:r>
            <a:r>
              <a:rPr b="0" dirty="0">
                <a:solidFill>
                  <a:srgbClr val="000000"/>
                </a:solidFill>
              </a:rPr>
              <a:t> fit 후 </a:t>
            </a:r>
            <a:r>
              <a:rPr b="0" dirty="0" err="1">
                <a:solidFill>
                  <a:srgbClr val="000000"/>
                </a:solidFill>
              </a:rPr>
              <a:t>Valid·Test에</a:t>
            </a:r>
            <a:r>
              <a:rPr b="0" dirty="0">
                <a:solidFill>
                  <a:srgbClr val="000000"/>
                </a:solidFill>
              </a:rPr>
              <a:t> transform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FD56C1-30C1-455D-8010-58D5975AE402}"/>
              </a:ext>
            </a:extLst>
          </p:cNvPr>
          <p:cNvSpPr/>
          <p:nvPr/>
        </p:nvSpPr>
        <p:spPr>
          <a:xfrm>
            <a:off x="6299200" y="1066800"/>
            <a:ext cx="5537200" cy="52324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A80163-C7EF-4C06-A99F-33937D3BB130}"/>
              </a:ext>
            </a:extLst>
          </p:cNvPr>
          <p:cNvSpPr/>
          <p:nvPr/>
        </p:nvSpPr>
        <p:spPr>
          <a:xfrm>
            <a:off x="355600" y="3759200"/>
            <a:ext cx="5816600" cy="2540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B95F8B-1A52-4E77-B1DE-02622AC2B033}"/>
              </a:ext>
            </a:extLst>
          </p:cNvPr>
          <p:cNvSpPr/>
          <p:nvPr/>
        </p:nvSpPr>
        <p:spPr>
          <a:xfrm>
            <a:off x="355600" y="1066800"/>
            <a:ext cx="5816600" cy="24892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3. 분석 방법 — 모형 · 프로토콜 · 평가 지표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비교 모형 (총 7종)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5334000" cy="98488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금융</a:t>
            </a:r>
            <a:r>
              <a:rPr sz="1600" b="0" dirty="0">
                <a:solidFill>
                  <a:srgbClr val="000000"/>
                </a:solidFill>
              </a:rPr>
              <a:t> baseline (2종): GARCH(1,1), HAR-RV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ML </a:t>
            </a:r>
            <a:r>
              <a:rPr sz="1600" b="0" dirty="0" err="1">
                <a:solidFill>
                  <a:srgbClr val="000000"/>
                </a:solidFill>
              </a:rPr>
              <a:t>모형</a:t>
            </a:r>
            <a:r>
              <a:rPr sz="1600" b="0" dirty="0">
                <a:solidFill>
                  <a:srgbClr val="000000"/>
                </a:solidFill>
              </a:rPr>
              <a:t> (5종): Ridge, </a:t>
            </a:r>
            <a:r>
              <a:rPr sz="1600" b="0" dirty="0" err="1">
                <a:solidFill>
                  <a:srgbClr val="000000"/>
                </a:solidFill>
              </a:rPr>
              <a:t>ElasticNet</a:t>
            </a:r>
            <a:r>
              <a:rPr sz="1600" b="0" dirty="0">
                <a:solidFill>
                  <a:srgbClr val="000000"/>
                </a:solidFill>
              </a:rPr>
              <a:t>, Huber, </a:t>
            </a:r>
            <a:r>
              <a:rPr sz="1600" b="0" dirty="0" err="1">
                <a:solidFill>
                  <a:srgbClr val="000000"/>
                </a:solidFill>
              </a:rPr>
              <a:t>LightGBM</a:t>
            </a:r>
            <a:r>
              <a:rPr sz="1600" b="0" dirty="0">
                <a:solidFill>
                  <a:srgbClr val="000000"/>
                </a:solidFill>
              </a:rPr>
              <a:t>, </a:t>
            </a:r>
            <a:r>
              <a:rPr sz="1600" b="0" dirty="0" err="1">
                <a:solidFill>
                  <a:srgbClr val="000000"/>
                </a:solidFill>
              </a:rPr>
              <a:t>XGBoost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정규화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선형</a:t>
            </a:r>
            <a:r>
              <a:rPr sz="1600" b="0" dirty="0">
                <a:solidFill>
                  <a:srgbClr val="000000"/>
                </a:solidFill>
              </a:rPr>
              <a:t> 3종 + </a:t>
            </a:r>
            <a:r>
              <a:rPr sz="1600" b="0" dirty="0" err="1">
                <a:solidFill>
                  <a:srgbClr val="000000"/>
                </a:solidFill>
              </a:rPr>
              <a:t>그래디언트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부스팅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트리</a:t>
            </a:r>
            <a:r>
              <a:rPr sz="1600" b="0" dirty="0">
                <a:solidFill>
                  <a:srgbClr val="000000"/>
                </a:solidFill>
              </a:rPr>
              <a:t> 2종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38735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평가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330700"/>
            <a:ext cx="5334000" cy="11849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Static — </a:t>
            </a:r>
            <a:r>
              <a:rPr sz="1400" b="0" dirty="0" err="1">
                <a:solidFill>
                  <a:srgbClr val="000000"/>
                </a:solidFill>
              </a:rPr>
              <a:t>최종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적합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표본으로</a:t>
            </a:r>
            <a:r>
              <a:rPr sz="1400" b="0" dirty="0">
                <a:solidFill>
                  <a:srgbClr val="000000"/>
                </a:solidFill>
              </a:rPr>
              <a:t> 1회 </a:t>
            </a:r>
            <a:r>
              <a:rPr sz="1400" b="0" dirty="0" err="1">
                <a:solidFill>
                  <a:srgbClr val="000000"/>
                </a:solidFill>
              </a:rPr>
              <a:t>적합</a:t>
            </a:r>
            <a:r>
              <a:rPr sz="1400" b="0" dirty="0">
                <a:solidFill>
                  <a:srgbClr val="000000"/>
                </a:solidFill>
              </a:rPr>
              <a:t> → test </a:t>
            </a:r>
            <a:r>
              <a:rPr sz="1400" b="0" dirty="0" err="1">
                <a:solidFill>
                  <a:srgbClr val="000000"/>
                </a:solidFill>
              </a:rPr>
              <a:t>전체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일괄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예측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Expanding walk-forward </a:t>
            </a:r>
            <a:endParaRPr lang="en-US"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>
                <a:solidFill>
                  <a:srgbClr val="000000"/>
                </a:solidFill>
              </a:rPr>
              <a:t>     </a:t>
            </a:r>
            <a:r>
              <a:rPr sz="1400" b="0" dirty="0">
                <a:solidFill>
                  <a:srgbClr val="000000"/>
                </a:solidFill>
              </a:rPr>
              <a:t>— 매 step </a:t>
            </a:r>
            <a:r>
              <a:rPr sz="1400" b="0" dirty="0" err="1">
                <a:solidFill>
                  <a:srgbClr val="000000"/>
                </a:solidFill>
              </a:rPr>
              <a:t>누적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관측치로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재적합</a:t>
            </a:r>
            <a:r>
              <a:rPr sz="1400" b="0" dirty="0">
                <a:solidFill>
                  <a:srgbClr val="000000"/>
                </a:solidFill>
              </a:rPr>
              <a:t> (</a:t>
            </a:r>
            <a:r>
              <a:rPr sz="1400" b="0" dirty="0" err="1">
                <a:solidFill>
                  <a:srgbClr val="000000"/>
                </a:solidFill>
              </a:rPr>
              <a:t>금융</a:t>
            </a:r>
            <a:r>
              <a:rPr sz="1400" b="0" dirty="0">
                <a:solidFill>
                  <a:srgbClr val="000000"/>
                </a:solidFill>
              </a:rPr>
              <a:t>=1, ML=5)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ML </a:t>
            </a:r>
            <a:r>
              <a:rPr sz="1400" b="0" dirty="0" err="1">
                <a:solidFill>
                  <a:srgbClr val="000000"/>
                </a:solidFill>
              </a:rPr>
              <a:t>튜닝</a:t>
            </a:r>
            <a:r>
              <a:rPr sz="1400" b="0" dirty="0">
                <a:solidFill>
                  <a:srgbClr val="000000"/>
                </a:solidFill>
              </a:rPr>
              <a:t>: </a:t>
            </a:r>
            <a:r>
              <a:rPr sz="1400" b="0" dirty="0" err="1">
                <a:solidFill>
                  <a:srgbClr val="000000"/>
                </a:solidFill>
              </a:rPr>
              <a:t>Optuna</a:t>
            </a:r>
            <a:r>
              <a:rPr sz="1400" b="0" dirty="0">
                <a:solidFill>
                  <a:srgbClr val="000000"/>
                </a:solidFill>
              </a:rPr>
              <a:t> TPE (linear 15 trials, tree 30 trials, seed=42)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1143000"/>
            <a:ext cx="5207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평가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600200"/>
            <a:ext cx="5207000" cy="1418337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RMSE_CV (</a:t>
            </a:r>
            <a:r>
              <a:rPr sz="1600" b="0" dirty="0" err="1">
                <a:solidFill>
                  <a:srgbClr val="000000"/>
                </a:solidFill>
              </a:rPr>
              <a:t>주된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지표</a:t>
            </a:r>
            <a:r>
              <a:rPr sz="1600" b="0" dirty="0">
                <a:solidFill>
                  <a:srgbClr val="000000"/>
                </a:solidFill>
              </a:rPr>
              <a:t>): RMSE / mean(y)</a:t>
            </a:r>
          </a:p>
          <a:p>
            <a:pPr lvl="1">
              <a:spcAft>
                <a:spcPts val="400"/>
              </a:spcAft>
            </a:pPr>
            <a:r>
              <a:rPr sz="1050" b="0" dirty="0">
                <a:solidFill>
                  <a:srgbClr val="000000"/>
                </a:solidFill>
              </a:rPr>
              <a:t>–  </a:t>
            </a:r>
            <a:r>
              <a:rPr sz="1050" b="0" dirty="0" err="1">
                <a:solidFill>
                  <a:srgbClr val="000000"/>
                </a:solidFill>
              </a:rPr>
              <a:t>시장</a:t>
            </a:r>
            <a:r>
              <a:rPr sz="1050" b="0" dirty="0">
                <a:solidFill>
                  <a:srgbClr val="000000"/>
                </a:solidFill>
              </a:rPr>
              <a:t> 간 RV </a:t>
            </a:r>
            <a:r>
              <a:rPr sz="1050" b="0" dirty="0" err="1">
                <a:solidFill>
                  <a:srgbClr val="000000"/>
                </a:solidFill>
              </a:rPr>
              <a:t>스케일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차이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통제</a:t>
            </a:r>
            <a:endParaRPr sz="105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RMSE: </a:t>
            </a:r>
            <a:r>
              <a:rPr sz="1600" b="0" dirty="0" err="1">
                <a:solidFill>
                  <a:srgbClr val="000000"/>
                </a:solidFill>
              </a:rPr>
              <a:t>절대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오차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크기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QLIKE: </a:t>
            </a:r>
            <a:r>
              <a:rPr sz="1600" b="0" dirty="0" err="1">
                <a:solidFill>
                  <a:srgbClr val="000000"/>
                </a:solidFill>
              </a:rPr>
              <a:t>변동성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손실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비대칭성</a:t>
            </a:r>
            <a:r>
              <a:rPr sz="1600" b="0" dirty="0">
                <a:solidFill>
                  <a:srgbClr val="000000"/>
                </a:solidFill>
              </a:rPr>
              <a:t> (Hansen &amp; Lunde, 2005)</a:t>
            </a:r>
          </a:p>
          <a:p>
            <a:pPr lvl="1">
              <a:spcAft>
                <a:spcPts val="400"/>
              </a:spcAft>
            </a:pPr>
            <a:r>
              <a:rPr sz="1050" b="0" dirty="0">
                <a:solidFill>
                  <a:srgbClr val="000000"/>
                </a:solidFill>
              </a:rPr>
              <a:t>–  ML </a:t>
            </a:r>
            <a:r>
              <a:rPr sz="1050" b="0" dirty="0" err="1">
                <a:solidFill>
                  <a:srgbClr val="000000"/>
                </a:solidFill>
              </a:rPr>
              <a:t>튜닝의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목적함수로도</a:t>
            </a:r>
            <a:r>
              <a:rPr sz="1050" b="0" dirty="0">
                <a:solidFill>
                  <a:srgbClr val="000000"/>
                </a:solidFill>
              </a:rPr>
              <a:t> </a:t>
            </a:r>
            <a:r>
              <a:rPr sz="1050" b="0" dirty="0" err="1">
                <a:solidFill>
                  <a:srgbClr val="000000"/>
                </a:solidFill>
              </a:rPr>
              <a:t>사용</a:t>
            </a:r>
            <a:endParaRPr sz="105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9C6301-B180-45C4-A4DC-F939A0930E4F}"/>
              </a:ext>
            </a:extLst>
          </p:cNvPr>
          <p:cNvSpPr/>
          <p:nvPr/>
        </p:nvSpPr>
        <p:spPr>
          <a:xfrm>
            <a:off x="355600" y="4445000"/>
            <a:ext cx="11480800" cy="2286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4.1.1 ML 모형과 금융모형의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000" y="4673600"/>
            <a:ext cx="2540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 dirty="0">
                <a:solidFill>
                  <a:srgbClr val="1F4E79"/>
                </a:solidFill>
              </a:rPr>
              <a:t>■ </a:t>
            </a:r>
            <a:r>
              <a:rPr sz="1800" b="1" dirty="0" err="1">
                <a:solidFill>
                  <a:srgbClr val="1F4E79"/>
                </a:solidFill>
              </a:rPr>
              <a:t>핵심</a:t>
            </a:r>
            <a:r>
              <a:rPr sz="1800" b="1" dirty="0">
                <a:solidFill>
                  <a:srgbClr val="1F4E79"/>
                </a:solidFill>
              </a:rPr>
              <a:t> </a:t>
            </a:r>
            <a:r>
              <a:rPr sz="1800" b="1" dirty="0" err="1">
                <a:solidFill>
                  <a:srgbClr val="1F4E79"/>
                </a:solidFill>
              </a:rPr>
              <a:t>결과</a:t>
            </a:r>
            <a:endParaRPr sz="1800" b="1" dirty="0">
              <a:solidFill>
                <a:srgbClr val="1F4E7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02000" y="4635500"/>
            <a:ext cx="8382000" cy="2062103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</a:t>
            </a:r>
            <a:r>
              <a:rPr sz="1400" b="0" dirty="0" err="1">
                <a:solidFill>
                  <a:srgbClr val="000000"/>
                </a:solidFill>
              </a:rPr>
              <a:t>전체</a:t>
            </a:r>
            <a:r>
              <a:rPr sz="1400" b="0" dirty="0">
                <a:solidFill>
                  <a:srgbClr val="000000"/>
                </a:solidFill>
              </a:rPr>
              <a:t> 12/12 (</a:t>
            </a:r>
            <a:r>
              <a:rPr sz="1400" b="0" dirty="0" err="1">
                <a:solidFill>
                  <a:srgbClr val="000000"/>
                </a:solidFill>
              </a:rPr>
              <a:t>시장</a:t>
            </a:r>
            <a:r>
              <a:rPr sz="1400" b="0" dirty="0">
                <a:solidFill>
                  <a:srgbClr val="000000"/>
                </a:solidFill>
              </a:rPr>
              <a:t>, </a:t>
            </a:r>
            <a:r>
              <a:rPr sz="1400" b="0" dirty="0" err="1">
                <a:solidFill>
                  <a:srgbClr val="000000"/>
                </a:solidFill>
              </a:rPr>
              <a:t>구간</a:t>
            </a:r>
            <a:r>
              <a:rPr sz="1400" b="0" dirty="0">
                <a:solidFill>
                  <a:srgbClr val="000000"/>
                </a:solidFill>
              </a:rPr>
              <a:t>) </a:t>
            </a:r>
            <a:r>
              <a:rPr sz="1400" b="0" dirty="0" err="1">
                <a:solidFill>
                  <a:srgbClr val="000000"/>
                </a:solidFill>
              </a:rPr>
              <a:t>조합에서</a:t>
            </a:r>
            <a:r>
              <a:rPr sz="1400" b="0" dirty="0">
                <a:solidFill>
                  <a:srgbClr val="000000"/>
                </a:solidFill>
              </a:rPr>
              <a:t> ML &gt; </a:t>
            </a:r>
            <a:r>
              <a:rPr sz="1400" b="0" dirty="0" err="1">
                <a:solidFill>
                  <a:srgbClr val="000000"/>
                </a:solidFill>
              </a:rPr>
              <a:t>금융모형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</a:t>
            </a:r>
            <a:r>
              <a:rPr sz="1400" b="0" dirty="0" err="1">
                <a:solidFill>
                  <a:srgbClr val="000000"/>
                </a:solidFill>
              </a:rPr>
              <a:t>평균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개선폭</a:t>
            </a:r>
            <a:r>
              <a:rPr sz="1400" b="0" dirty="0">
                <a:solidFill>
                  <a:srgbClr val="000000"/>
                </a:solidFill>
              </a:rPr>
              <a:t> 약 36% (27~49% </a:t>
            </a:r>
            <a:r>
              <a:rPr sz="1400" b="0" dirty="0" err="1">
                <a:solidFill>
                  <a:srgbClr val="000000"/>
                </a:solidFill>
              </a:rPr>
              <a:t>범위</a:t>
            </a:r>
            <a:r>
              <a:rPr sz="1400" b="0" dirty="0">
                <a:solidFill>
                  <a:srgbClr val="000000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</a:t>
            </a:r>
            <a:r>
              <a:rPr sz="1400" b="0" dirty="0" err="1">
                <a:solidFill>
                  <a:srgbClr val="000000"/>
                </a:solidFill>
              </a:rPr>
              <a:t>최대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격차</a:t>
            </a:r>
            <a:r>
              <a:rPr sz="1400" b="0" dirty="0">
                <a:solidFill>
                  <a:srgbClr val="000000"/>
                </a:solidFill>
              </a:rPr>
              <a:t>: </a:t>
            </a:r>
            <a:r>
              <a:rPr sz="1400" b="0" dirty="0" err="1">
                <a:solidFill>
                  <a:srgbClr val="000000"/>
                </a:solidFill>
              </a:rPr>
              <a:t>일본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평시</a:t>
            </a:r>
            <a:r>
              <a:rPr sz="1400" b="0" dirty="0">
                <a:solidFill>
                  <a:srgbClr val="000000"/>
                </a:solidFill>
              </a:rPr>
              <a:t>
HAR-RV 0.459 → </a:t>
            </a:r>
            <a:r>
              <a:rPr sz="1400" b="0" dirty="0" err="1">
                <a:solidFill>
                  <a:srgbClr val="000000"/>
                </a:solidFill>
              </a:rPr>
              <a:t>XGBoost</a:t>
            </a:r>
            <a:r>
              <a:rPr sz="1400" b="0" dirty="0">
                <a:solidFill>
                  <a:srgbClr val="000000"/>
                </a:solidFill>
              </a:rPr>
              <a:t> 0.235 (−48.8%)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HAR-</a:t>
            </a:r>
            <a:r>
              <a:rPr sz="1400" b="0" dirty="0" err="1">
                <a:solidFill>
                  <a:srgbClr val="000000"/>
                </a:solidFill>
              </a:rPr>
              <a:t>RV가</a:t>
            </a:r>
            <a:r>
              <a:rPr sz="1400" b="0" dirty="0">
                <a:solidFill>
                  <a:srgbClr val="000000"/>
                </a:solidFill>
              </a:rPr>
              <a:t> 전 </a:t>
            </a:r>
            <a:r>
              <a:rPr sz="1400" b="0" dirty="0" err="1">
                <a:solidFill>
                  <a:srgbClr val="000000"/>
                </a:solidFill>
              </a:rPr>
              <a:t>구간에서</a:t>
            </a:r>
            <a:r>
              <a:rPr sz="1400" b="0" dirty="0">
                <a:solidFill>
                  <a:srgbClr val="000000"/>
                </a:solidFill>
              </a:rPr>
              <a:t> GARCH(1,1)를 </a:t>
            </a:r>
            <a:r>
              <a:rPr sz="1400" b="0" dirty="0" err="1">
                <a:solidFill>
                  <a:srgbClr val="000000"/>
                </a:solidFill>
              </a:rPr>
              <a:t>지배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GFC: 세 </a:t>
            </a:r>
            <a:r>
              <a:rPr sz="1400" b="0" dirty="0" err="1">
                <a:solidFill>
                  <a:srgbClr val="000000"/>
                </a:solidFill>
              </a:rPr>
              <a:t>시장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모두</a:t>
            </a:r>
            <a:r>
              <a:rPr sz="1400" b="0" dirty="0">
                <a:solidFill>
                  <a:srgbClr val="000000"/>
                </a:solidFill>
              </a:rPr>
              <a:t> Ridge — </a:t>
            </a:r>
            <a:r>
              <a:rPr sz="1400" b="0" dirty="0" err="1">
                <a:solidFill>
                  <a:srgbClr val="000000"/>
                </a:solidFill>
              </a:rPr>
              <a:t>강한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정규화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우위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평시·COVID-19: </a:t>
            </a:r>
            <a:r>
              <a:rPr sz="1400" b="0" dirty="0" err="1">
                <a:solidFill>
                  <a:srgbClr val="000000"/>
                </a:solidFill>
              </a:rPr>
              <a:t>트리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앙상블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우위</a:t>
            </a:r>
            <a:endParaRPr sz="1400" b="0" dirty="0">
              <a:solidFill>
                <a:srgbClr val="000000"/>
              </a:solidFill>
            </a:endParaRPr>
          </a:p>
        </p:txBody>
      </p:sp>
      <p:pic>
        <p:nvPicPr>
          <p:cNvPr id="8" name="그림 7" descr="The image is a comparative visualization showing the Root Mean Square Error of Cross-Validation (RMSE_CV) for different machine learning models, indicating that models using broader and nonlinear information generally perform better than those using HAR-RV/GARCH.&#10;&#10;AI 생성 콘텐츠는 정확하지 않을 수 있습니다.">
            <a:extLst>
              <a:ext uri="{FF2B5EF4-FFF2-40B4-BE49-F238E27FC236}">
                <a16:creationId xmlns:a16="http://schemas.microsoft.com/office/drawing/2014/main" id="{F9AE9CE8-A0A6-819A-59DE-4EC2EDFC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39" y="1153704"/>
            <a:ext cx="8155412" cy="3223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8F2926-5923-4633-980D-A8DA4E7A552D}"/>
              </a:ext>
            </a:extLst>
          </p:cNvPr>
          <p:cNvSpPr/>
          <p:nvPr/>
        </p:nvSpPr>
        <p:spPr>
          <a:xfrm>
            <a:off x="7366000" y="1066800"/>
            <a:ext cx="4470400" cy="4546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4.1.2 Feature Tier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0" y="1143000"/>
            <a:ext cx="406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핵심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600200"/>
            <a:ext cx="4064000" cy="26007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최대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개선</a:t>
            </a:r>
            <a:r>
              <a:rPr sz="1600" b="0" dirty="0">
                <a:solidFill>
                  <a:srgbClr val="000000"/>
                </a:solidFill>
              </a:rPr>
              <a:t>: </a:t>
            </a:r>
            <a:r>
              <a:rPr sz="1600" b="0" dirty="0" err="1">
                <a:solidFill>
                  <a:srgbClr val="000000"/>
                </a:solidFill>
              </a:rPr>
              <a:t>미국</a:t>
            </a:r>
            <a:r>
              <a:rPr sz="1600" b="0" dirty="0">
                <a:solidFill>
                  <a:srgbClr val="000000"/>
                </a:solidFill>
              </a:rPr>
              <a:t> COVID-19 +10.6%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평시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모두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양의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개선</a:t>
            </a:r>
            <a:r>
              <a:rPr sz="1600" b="0" dirty="0">
                <a:solidFill>
                  <a:srgbClr val="000000"/>
                </a:solidFill>
              </a:rPr>
              <a:t>:
US +5.8% / JP +2.8% / KR +2.0%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음의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개선폭</a:t>
            </a:r>
            <a:r>
              <a:rPr sz="1600" b="0" dirty="0">
                <a:solidFill>
                  <a:srgbClr val="000000"/>
                </a:solidFill>
              </a:rPr>
              <a:t> (Extended </a:t>
            </a:r>
            <a:r>
              <a:rPr sz="1600" b="0" dirty="0" err="1">
                <a:solidFill>
                  <a:srgbClr val="000000"/>
                </a:solidFill>
              </a:rPr>
              <a:t>오히려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악화</a:t>
            </a:r>
            <a:r>
              <a:rPr sz="1600" b="0" dirty="0">
                <a:solidFill>
                  <a:srgbClr val="000000"/>
                </a:solidFill>
              </a:rPr>
              <a:t>):
JP 9·11 −1.7%, JP COVID-19 −1.0%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한국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시장</a:t>
            </a:r>
            <a:r>
              <a:rPr sz="1600" b="0" dirty="0">
                <a:solidFill>
                  <a:srgbClr val="000000"/>
                </a:solidFill>
              </a:rPr>
              <a:t>: 전 </a:t>
            </a:r>
            <a:r>
              <a:rPr sz="1600" b="0" dirty="0" err="1">
                <a:solidFill>
                  <a:srgbClr val="000000"/>
                </a:solidFill>
              </a:rPr>
              <a:t>구간</a:t>
            </a:r>
            <a:r>
              <a:rPr sz="1600" b="0" dirty="0">
                <a:solidFill>
                  <a:srgbClr val="000000"/>
                </a:solidFill>
              </a:rPr>
              <a:t> ±2% </a:t>
            </a:r>
            <a:r>
              <a:rPr sz="1600" b="0" dirty="0" err="1">
                <a:solidFill>
                  <a:srgbClr val="000000"/>
                </a:solidFill>
              </a:rPr>
              <a:t>이내</a:t>
            </a:r>
            <a:endParaRPr lang="en-US" sz="16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000000"/>
                </a:solidFill>
              </a:rPr>
              <a:t>    </a:t>
            </a:r>
            <a:r>
              <a:rPr sz="1000" b="0" dirty="0">
                <a:solidFill>
                  <a:srgbClr val="000000"/>
                </a:solidFill>
              </a:rPr>
              <a:t> → </a:t>
            </a:r>
            <a:r>
              <a:rPr sz="1000" b="0" dirty="0" err="1">
                <a:solidFill>
                  <a:srgbClr val="000000"/>
                </a:solidFill>
              </a:rPr>
              <a:t>거시·국제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변수의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한계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기여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미미</a:t>
            </a:r>
            <a:endParaRPr sz="10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시장에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따라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비대칭적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효과</a:t>
            </a:r>
            <a:endParaRPr sz="1600" b="0" dirty="0">
              <a:solidFill>
                <a:srgbClr val="000000"/>
              </a:solidFill>
            </a:endParaRPr>
          </a:p>
        </p:txBody>
      </p:sp>
      <p:pic>
        <p:nvPicPr>
          <p:cNvPr id="8" name="그림 7" descr="The image presents a comparative chart displaying the percentage improvement in RMSE_CV for different countries (US, KR, JP) under various scenarios (Normal, 9/11, GFC, COVID).&#10;&#10;AI 생성 콘텐츠는 정확하지 않을 수 있습니다.">
            <a:extLst>
              <a:ext uri="{FF2B5EF4-FFF2-40B4-BE49-F238E27FC236}">
                <a16:creationId xmlns:a16="http://schemas.microsoft.com/office/drawing/2014/main" id="{B69E3F22-7ECD-B342-7647-EAB5644E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1" y="1242760"/>
            <a:ext cx="7010398" cy="4372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0210B1-C3CF-448E-8402-AC22FC47CAF1}"/>
              </a:ext>
            </a:extLst>
          </p:cNvPr>
          <p:cNvSpPr/>
          <p:nvPr/>
        </p:nvSpPr>
        <p:spPr>
          <a:xfrm>
            <a:off x="355600" y="4038600"/>
            <a:ext cx="11480800" cy="2387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451BD4-26DA-4094-A545-AAB7666AAF8F}"/>
              </a:ext>
            </a:extLst>
          </p:cNvPr>
          <p:cNvSpPr/>
          <p:nvPr/>
        </p:nvSpPr>
        <p:spPr>
          <a:xfrm>
            <a:off x="355600" y="1752600"/>
            <a:ext cx="11480800" cy="2133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A874A3-AAE6-4158-880E-7C3CBB220015}"/>
              </a:ext>
            </a:extLst>
          </p:cNvPr>
          <p:cNvSpPr/>
          <p:nvPr/>
        </p:nvSpPr>
        <p:spPr>
          <a:xfrm>
            <a:off x="355600" y="1066800"/>
            <a:ext cx="11480800" cy="482600"/>
          </a:xfrm>
          <a:prstGeom prst="rect">
            <a:avLst/>
          </a:prstGeom>
          <a:solidFill>
            <a:srgbClr val="FFF4E5"/>
          </a:solidFill>
          <a:ln w="9525" cap="flat" cmpd="sng" algn="ctr">
            <a:solidFill>
              <a:srgbClr val="E8B86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27350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4.2.3 (a) S&amp;P 500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10490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dirty="0" err="1">
                <a:solidFill>
                  <a:srgbClr val="C0504D"/>
                </a:solidFill>
              </a:rPr>
              <a:t>관측</a:t>
            </a:r>
            <a:r>
              <a:rPr sz="1600" b="1" dirty="0">
                <a:solidFill>
                  <a:srgbClr val="C0504D"/>
                </a:solidFill>
              </a:rPr>
              <a:t>: </a:t>
            </a:r>
            <a:r>
              <a:rPr sz="1600" b="1" dirty="0" err="1">
                <a:solidFill>
                  <a:srgbClr val="C0504D"/>
                </a:solidFill>
              </a:rPr>
              <a:t>미국</a:t>
            </a:r>
            <a:r>
              <a:rPr sz="1600" b="1" dirty="0">
                <a:solidFill>
                  <a:srgbClr val="C0504D"/>
                </a:solidFill>
              </a:rPr>
              <a:t> </a:t>
            </a:r>
            <a:r>
              <a:rPr sz="1600" b="1" dirty="0" err="1">
                <a:solidFill>
                  <a:srgbClr val="C0504D"/>
                </a:solidFill>
              </a:rPr>
              <a:t>시장</a:t>
            </a:r>
            <a:r>
              <a:rPr sz="1600" b="1" dirty="0">
                <a:solidFill>
                  <a:srgbClr val="C0504D"/>
                </a:solidFill>
              </a:rPr>
              <a:t> Extended tier </a:t>
            </a:r>
            <a:r>
              <a:rPr sz="1600" b="1" dirty="0" err="1">
                <a:solidFill>
                  <a:srgbClr val="C0504D"/>
                </a:solidFill>
              </a:rPr>
              <a:t>한계효</a:t>
            </a:r>
            <a:r>
              <a:rPr lang="ko-KR" altLang="en-US" sz="1600" b="1" dirty="0">
                <a:solidFill>
                  <a:srgbClr val="C0504D"/>
                </a:solidFill>
              </a:rPr>
              <a:t>과</a:t>
            </a:r>
            <a:r>
              <a:rPr sz="1600" b="1" dirty="0">
                <a:solidFill>
                  <a:srgbClr val="C0504D"/>
                </a:solidFill>
              </a:rPr>
              <a:t> — </a:t>
            </a:r>
            <a:r>
              <a:rPr sz="1600" b="1" dirty="0" err="1">
                <a:solidFill>
                  <a:srgbClr val="C0504D"/>
                </a:solidFill>
              </a:rPr>
              <a:t>평시</a:t>
            </a:r>
            <a:r>
              <a:rPr sz="1600" b="1" dirty="0">
                <a:solidFill>
                  <a:srgbClr val="C0504D"/>
                </a:solidFill>
              </a:rPr>
              <a:t> +5.8%, COVID-19 +10.6%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828800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</a:rPr>
              <a:t>■ 두 </a:t>
            </a:r>
            <a:r>
              <a:rPr sz="2000" b="1" dirty="0" err="1">
                <a:solidFill>
                  <a:srgbClr val="1F4E79"/>
                </a:solidFill>
              </a:rPr>
              <a:t>조건의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동시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충족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000" y="2286000"/>
            <a:ext cx="11049000" cy="72327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조건</a:t>
            </a:r>
            <a:r>
              <a:rPr b="0" dirty="0">
                <a:solidFill>
                  <a:srgbClr val="000000"/>
                </a:solidFill>
              </a:rPr>
              <a:t> 1 — </a:t>
            </a:r>
            <a:r>
              <a:rPr b="0" dirty="0" err="1">
                <a:solidFill>
                  <a:srgbClr val="000000"/>
                </a:solidFill>
              </a:rPr>
              <a:t>시계열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변동성</a:t>
            </a:r>
            <a:r>
              <a:rPr b="0" dirty="0">
                <a:solidFill>
                  <a:srgbClr val="000000"/>
                </a:solidFill>
              </a:rPr>
              <a:t>: </a:t>
            </a:r>
            <a:r>
              <a:rPr b="0" dirty="0" err="1">
                <a:solidFill>
                  <a:srgbClr val="000000"/>
                </a:solidFill>
              </a:rPr>
              <a:t>Fed의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능동적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정책금리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조정</a:t>
            </a:r>
            <a:r>
              <a:rPr b="0" dirty="0">
                <a:solidFill>
                  <a:srgbClr val="000000"/>
                </a:solidFill>
              </a:rPr>
              <a:t>, </a:t>
            </a:r>
            <a:r>
              <a:rPr b="0" dirty="0" err="1">
                <a:solidFill>
                  <a:srgbClr val="000000"/>
                </a:solidFill>
              </a:rPr>
              <a:t>미국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EPU의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폭넓은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변동</a:t>
            </a:r>
            <a:endParaRPr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조건</a:t>
            </a:r>
            <a:r>
              <a:rPr b="0" dirty="0">
                <a:solidFill>
                  <a:srgbClr val="000000"/>
                </a:solidFill>
              </a:rPr>
              <a:t> 2 — Leading content: </a:t>
            </a:r>
            <a:r>
              <a:rPr b="0" dirty="0" err="1">
                <a:solidFill>
                  <a:srgbClr val="000000"/>
                </a:solidFill>
              </a:rPr>
              <a:t>거시·정책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변수가</a:t>
            </a:r>
            <a:r>
              <a:rPr b="0" dirty="0">
                <a:solidFill>
                  <a:srgbClr val="000000"/>
                </a:solidFill>
              </a:rPr>
              <a:t> RV </a:t>
            </a:r>
            <a:r>
              <a:rPr b="0" dirty="0" err="1">
                <a:solidFill>
                  <a:srgbClr val="000000"/>
                </a:solidFill>
              </a:rPr>
              <a:t>변화에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시간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선행적으로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작동</a:t>
            </a:r>
            <a:endParaRPr b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000" y="4114800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</a:rPr>
              <a:t>■ COVID-19</a:t>
            </a:r>
            <a:r>
              <a:rPr lang="en-US" sz="2000" b="1" dirty="0">
                <a:solidFill>
                  <a:srgbClr val="1F4E79"/>
                </a:solidFill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</a:rPr>
              <a:t>시기 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압도적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개선폭</a:t>
            </a:r>
            <a:r>
              <a:rPr sz="2000" b="1" dirty="0">
                <a:solidFill>
                  <a:srgbClr val="1F4E79"/>
                </a:solidFill>
              </a:rPr>
              <a:t> (+10.6%)의 </a:t>
            </a:r>
            <a:r>
              <a:rPr sz="2000" b="1" dirty="0" err="1">
                <a:solidFill>
                  <a:srgbClr val="1F4E79"/>
                </a:solidFill>
              </a:rPr>
              <a:t>메커니즘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000" y="4572000"/>
            <a:ext cx="11049000" cy="1077218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Fed 2020년 3월 </a:t>
            </a:r>
            <a:r>
              <a:rPr b="0" dirty="0" err="1">
                <a:solidFill>
                  <a:srgbClr val="000000"/>
                </a:solidFill>
              </a:rPr>
              <a:t>무제한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양적완화</a:t>
            </a:r>
            <a:r>
              <a:rPr b="0" dirty="0">
                <a:solidFill>
                  <a:srgbClr val="000000"/>
                </a:solidFill>
              </a:rPr>
              <a:t> + </a:t>
            </a:r>
            <a:r>
              <a:rPr b="0" dirty="0" err="1">
                <a:solidFill>
                  <a:srgbClr val="000000"/>
                </a:solidFill>
              </a:rPr>
              <a:t>zero금리</a:t>
            </a:r>
            <a:r>
              <a:rPr b="0" dirty="0">
                <a:solidFill>
                  <a:srgbClr val="000000"/>
                </a:solidFill>
              </a:rPr>
              <a:t> + </a:t>
            </a:r>
            <a:r>
              <a:rPr b="0" dirty="0" err="1">
                <a:solidFill>
                  <a:srgbClr val="000000"/>
                </a:solidFill>
              </a:rPr>
              <a:t>회사채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매입</a:t>
            </a:r>
            <a:r>
              <a:rPr b="0" dirty="0">
                <a:solidFill>
                  <a:srgbClr val="000000"/>
                </a:solidFill>
              </a:rPr>
              <a:t> facility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미국</a:t>
            </a:r>
            <a:r>
              <a:rPr b="0" dirty="0">
                <a:solidFill>
                  <a:srgbClr val="000000"/>
                </a:solidFill>
              </a:rPr>
              <a:t> EPU </a:t>
            </a:r>
            <a:r>
              <a:rPr b="0" dirty="0" err="1">
                <a:solidFill>
                  <a:srgbClr val="000000"/>
                </a:solidFill>
              </a:rPr>
              <a:t>지수가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표본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평균의</a:t>
            </a:r>
            <a:r>
              <a:rPr b="0" dirty="0">
                <a:solidFill>
                  <a:srgbClr val="000000"/>
                </a:solidFill>
              </a:rPr>
              <a:t> 4배 </a:t>
            </a:r>
            <a:r>
              <a:rPr b="0" dirty="0" err="1">
                <a:solidFill>
                  <a:srgbClr val="000000"/>
                </a:solidFill>
              </a:rPr>
              <a:t>상회</a:t>
            </a:r>
            <a:r>
              <a:rPr b="0" dirty="0">
                <a:solidFill>
                  <a:srgbClr val="000000"/>
                </a:solidFill>
              </a:rPr>
              <a:t> — </a:t>
            </a:r>
            <a:r>
              <a:rPr b="0" dirty="0" err="1">
                <a:solidFill>
                  <a:srgbClr val="000000"/>
                </a:solidFill>
              </a:rPr>
              <a:t>정책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채널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극단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활성화</a:t>
            </a:r>
            <a:endParaRPr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0" dirty="0">
                <a:solidFill>
                  <a:srgbClr val="000000"/>
                </a:solidFill>
              </a:rPr>
              <a:t>• </a:t>
            </a:r>
            <a:r>
              <a:rPr b="0" dirty="0" err="1">
                <a:solidFill>
                  <a:srgbClr val="000000"/>
                </a:solidFill>
              </a:rPr>
              <a:t>미국이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글로벌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금융사이클의</a:t>
            </a:r>
            <a:r>
              <a:rPr b="0" dirty="0">
                <a:solidFill>
                  <a:srgbClr val="000000"/>
                </a:solidFill>
              </a:rPr>
              <a:t> source — </a:t>
            </a:r>
            <a:r>
              <a:rPr b="0" dirty="0" err="1">
                <a:solidFill>
                  <a:srgbClr val="000000"/>
                </a:solidFill>
              </a:rPr>
              <a:t>미국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거시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변수가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RV에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대한</a:t>
            </a:r>
            <a:r>
              <a:rPr b="0" dirty="0">
                <a:solidFill>
                  <a:srgbClr val="000000"/>
                </a:solidFill>
              </a:rPr>
              <a:t> leading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ADD137-B541-43C6-A7B2-7179AD8F3FD9}"/>
              </a:ext>
            </a:extLst>
          </p:cNvPr>
          <p:cNvSpPr/>
          <p:nvPr/>
        </p:nvSpPr>
        <p:spPr>
          <a:xfrm>
            <a:off x="355600" y="4038600"/>
            <a:ext cx="11480800" cy="2387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884BC9-F160-4010-998A-A8012EE7A037}"/>
              </a:ext>
            </a:extLst>
          </p:cNvPr>
          <p:cNvSpPr/>
          <p:nvPr/>
        </p:nvSpPr>
        <p:spPr>
          <a:xfrm>
            <a:off x="355600" y="1752600"/>
            <a:ext cx="11480800" cy="2133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4E7AA2-9EB5-4D0D-82F7-614B1576073E}"/>
              </a:ext>
            </a:extLst>
          </p:cNvPr>
          <p:cNvSpPr/>
          <p:nvPr/>
        </p:nvSpPr>
        <p:spPr>
          <a:xfrm>
            <a:off x="355600" y="1066800"/>
            <a:ext cx="11480800" cy="482600"/>
          </a:xfrm>
          <a:prstGeom prst="rect">
            <a:avLst/>
          </a:prstGeom>
          <a:solidFill>
            <a:srgbClr val="FFF4E5"/>
          </a:solidFill>
          <a:ln w="9525" cap="flat" cmpd="sng" algn="ctr">
            <a:solidFill>
              <a:srgbClr val="E8B86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23858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4.2.3 (b) KOSPI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104900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dirty="0" err="1">
                <a:solidFill>
                  <a:srgbClr val="C0504D"/>
                </a:solidFill>
              </a:rPr>
              <a:t>관측</a:t>
            </a:r>
            <a:r>
              <a:rPr sz="1400" b="1" dirty="0">
                <a:solidFill>
                  <a:srgbClr val="C0504D"/>
                </a:solidFill>
              </a:rPr>
              <a:t>: </a:t>
            </a:r>
            <a:r>
              <a:rPr sz="1400" b="1" dirty="0" err="1">
                <a:solidFill>
                  <a:srgbClr val="C0504D"/>
                </a:solidFill>
              </a:rPr>
              <a:t>한국</a:t>
            </a:r>
            <a:r>
              <a:rPr sz="1400" b="1" dirty="0">
                <a:solidFill>
                  <a:srgbClr val="C0504D"/>
                </a:solidFill>
              </a:rPr>
              <a:t> </a:t>
            </a:r>
            <a:r>
              <a:rPr sz="1400" b="1" dirty="0" err="1">
                <a:solidFill>
                  <a:srgbClr val="C0504D"/>
                </a:solidFill>
              </a:rPr>
              <a:t>시장</a:t>
            </a:r>
            <a:r>
              <a:rPr sz="1400" b="1" dirty="0">
                <a:solidFill>
                  <a:srgbClr val="C0504D"/>
                </a:solidFill>
              </a:rPr>
              <a:t> Extended tier </a:t>
            </a:r>
            <a:r>
              <a:rPr sz="1400" b="1" dirty="0" err="1">
                <a:solidFill>
                  <a:srgbClr val="C0504D"/>
                </a:solidFill>
              </a:rPr>
              <a:t>한계효</a:t>
            </a:r>
            <a:r>
              <a:rPr lang="ko-KR" altLang="en-US" sz="1400" b="1" dirty="0">
                <a:solidFill>
                  <a:srgbClr val="C0504D"/>
                </a:solidFill>
              </a:rPr>
              <a:t>과</a:t>
            </a:r>
            <a:r>
              <a:rPr sz="1400" b="1" dirty="0">
                <a:solidFill>
                  <a:srgbClr val="C0504D"/>
                </a:solidFill>
              </a:rPr>
              <a:t> — 전 </a:t>
            </a:r>
            <a:r>
              <a:rPr sz="1400" b="1" dirty="0" err="1">
                <a:solidFill>
                  <a:srgbClr val="C0504D"/>
                </a:solidFill>
              </a:rPr>
              <a:t>구간</a:t>
            </a:r>
            <a:r>
              <a:rPr sz="1400" b="1" dirty="0">
                <a:solidFill>
                  <a:srgbClr val="C0504D"/>
                </a:solidFill>
              </a:rPr>
              <a:t> ±2% </a:t>
            </a:r>
            <a:r>
              <a:rPr sz="1400" b="1" dirty="0" err="1">
                <a:solidFill>
                  <a:srgbClr val="C0504D"/>
                </a:solidFill>
              </a:rPr>
              <a:t>이내</a:t>
            </a:r>
            <a:r>
              <a:rPr sz="1400" b="1" dirty="0">
                <a:solidFill>
                  <a:srgbClr val="C0504D"/>
                </a:solidFill>
              </a:rPr>
              <a:t> (</a:t>
            </a:r>
            <a:r>
              <a:rPr sz="1400" b="1" dirty="0" err="1">
                <a:solidFill>
                  <a:srgbClr val="C0504D"/>
                </a:solidFill>
              </a:rPr>
              <a:t>평시</a:t>
            </a:r>
            <a:r>
              <a:rPr sz="1400" b="1" dirty="0">
                <a:solidFill>
                  <a:srgbClr val="C0504D"/>
                </a:solidFill>
              </a:rPr>
              <a:t> +2.0%, 9·11 −0.2%, GFC +0.1%, COVID-19 +0.2%)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828800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■ 첫 번째 redundancy — 시장 통합도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286000"/>
            <a:ext cx="11049000" cy="98488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KOSPI </a:t>
            </a:r>
            <a:r>
              <a:rPr sz="1600" b="0" dirty="0" err="1">
                <a:solidFill>
                  <a:srgbClr val="000000"/>
                </a:solidFill>
              </a:rPr>
              <a:t>외국인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비중</a:t>
            </a:r>
            <a:r>
              <a:rPr sz="1600" b="0" dirty="0">
                <a:solidFill>
                  <a:srgbClr val="000000"/>
                </a:solidFill>
              </a:rPr>
              <a:t> ~30%대 — </a:t>
            </a:r>
            <a:r>
              <a:rPr sz="1600" b="0" dirty="0" err="1">
                <a:solidFill>
                  <a:srgbClr val="000000"/>
                </a:solidFill>
              </a:rPr>
              <a:t>신흥시장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최상위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통합도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글로벌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자본흐름과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위험선호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변화가</a:t>
            </a:r>
            <a:r>
              <a:rPr sz="1600" b="0" dirty="0">
                <a:solidFill>
                  <a:srgbClr val="000000"/>
                </a:solidFill>
              </a:rPr>
              <a:t> KOSPI </a:t>
            </a:r>
            <a:r>
              <a:rPr sz="1600" b="0" dirty="0" err="1">
                <a:solidFill>
                  <a:srgbClr val="000000"/>
                </a:solidFill>
              </a:rPr>
              <a:t>변동성에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매우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신속히</a:t>
            </a:r>
            <a:r>
              <a:rPr sz="1600" b="0" dirty="0">
                <a:solidFill>
                  <a:srgbClr val="000000"/>
                </a:solidFill>
              </a:rPr>
              <a:t> internalize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자기</a:t>
            </a:r>
            <a:r>
              <a:rPr sz="1600" b="0" dirty="0">
                <a:solidFill>
                  <a:srgbClr val="000000"/>
                </a:solidFill>
              </a:rPr>
              <a:t> RV </a:t>
            </a:r>
            <a:r>
              <a:rPr sz="1600" b="0" dirty="0" err="1">
                <a:solidFill>
                  <a:srgbClr val="000000"/>
                </a:solidFill>
              </a:rPr>
              <a:t>시계열이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글로벌</a:t>
            </a:r>
            <a:r>
              <a:rPr sz="1600" b="0" dirty="0">
                <a:solidFill>
                  <a:srgbClr val="000000"/>
                </a:solidFill>
              </a:rPr>
              <a:t> latent </a:t>
            </a:r>
            <a:r>
              <a:rPr sz="1600" b="0" dirty="0" err="1">
                <a:solidFill>
                  <a:srgbClr val="000000"/>
                </a:solidFill>
              </a:rPr>
              <a:t>factor의</a:t>
            </a:r>
            <a:r>
              <a:rPr sz="1600" b="0" dirty="0">
                <a:solidFill>
                  <a:srgbClr val="000000"/>
                </a:solidFill>
              </a:rPr>
              <a:t> *</a:t>
            </a:r>
            <a:r>
              <a:rPr sz="1600" b="0" dirty="0" err="1">
                <a:solidFill>
                  <a:srgbClr val="000000"/>
                </a:solidFill>
              </a:rPr>
              <a:t>근사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충분통계량</a:t>
            </a:r>
            <a:r>
              <a:rPr sz="1600" b="0" dirty="0">
                <a:solidFill>
                  <a:srgbClr val="000000"/>
                </a:solidFill>
              </a:rPr>
              <a:t>* — spillover </a:t>
            </a:r>
            <a:r>
              <a:rPr sz="1600" b="0" dirty="0" err="1">
                <a:solidFill>
                  <a:srgbClr val="000000"/>
                </a:solidFill>
              </a:rPr>
              <a:t>변수는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복제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정보</a:t>
            </a:r>
            <a:endParaRPr sz="1600" b="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000" y="4114800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■ 두 번째 redundancy — 거시 변수의 내생적 후행성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4572000"/>
            <a:ext cx="11049000" cy="98488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한국은행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정책금리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결정이</a:t>
            </a:r>
            <a:r>
              <a:rPr sz="1600" b="0" dirty="0">
                <a:solidFill>
                  <a:srgbClr val="000000"/>
                </a:solidFill>
              </a:rPr>
              <a:t> Fed </a:t>
            </a:r>
            <a:r>
              <a:rPr sz="1600" b="0" dirty="0" err="1">
                <a:solidFill>
                  <a:srgbClr val="000000"/>
                </a:solidFill>
              </a:rPr>
              <a:t>사이클에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후행적으로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동조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신흥시장이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글로벌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자본흐름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환경에서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정책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자율성을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구조적으로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제한받음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한국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거시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변수는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leading이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아닌</a:t>
            </a:r>
            <a:r>
              <a:rPr sz="1600" b="0" dirty="0">
                <a:solidFill>
                  <a:srgbClr val="000000"/>
                </a:solidFill>
              </a:rPr>
              <a:t> coincident-or-lagging — Core </a:t>
            </a:r>
            <a:r>
              <a:rPr sz="1600" b="0" dirty="0" err="1">
                <a:solidFill>
                  <a:srgbClr val="000000"/>
                </a:solidFill>
              </a:rPr>
              <a:t>자기상관에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가산적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기여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거의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없음</a:t>
            </a:r>
            <a:endParaRPr sz="16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54E154-2EC4-4812-A434-F4A55491CCB3}"/>
              </a:ext>
            </a:extLst>
          </p:cNvPr>
          <p:cNvSpPr/>
          <p:nvPr/>
        </p:nvSpPr>
        <p:spPr>
          <a:xfrm>
            <a:off x="355600" y="3860800"/>
            <a:ext cx="11480800" cy="23876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1194FF-CD48-46E0-A77F-FB09EB3102C1}"/>
              </a:ext>
            </a:extLst>
          </p:cNvPr>
          <p:cNvSpPr/>
          <p:nvPr/>
        </p:nvSpPr>
        <p:spPr>
          <a:xfrm>
            <a:off x="355600" y="1981200"/>
            <a:ext cx="11480800" cy="1778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CDE21D-74D4-4595-BDC9-8EC51BB06B67}"/>
              </a:ext>
            </a:extLst>
          </p:cNvPr>
          <p:cNvSpPr/>
          <p:nvPr/>
        </p:nvSpPr>
        <p:spPr>
          <a:xfrm>
            <a:off x="355600" y="1066800"/>
            <a:ext cx="11480800" cy="711200"/>
          </a:xfrm>
          <a:prstGeom prst="rect">
            <a:avLst/>
          </a:prstGeom>
          <a:solidFill>
            <a:srgbClr val="FFF4E5"/>
          </a:solidFill>
          <a:ln w="9525" cap="flat" cmpd="sng" algn="ctr">
            <a:solidFill>
              <a:srgbClr val="E8B86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30249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4.2.3 (c) Nikkei 225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10490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C0504D"/>
                </a:solidFill>
              </a:rPr>
              <a:t>관측: 평시 +2.8% (약한 양) vs 위기 음수 (9·11 −1.7%, COVID-19 −1.0%) — 평시-위기 비대칭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2126672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</a:rPr>
              <a:t>■ </a:t>
            </a:r>
            <a:r>
              <a:rPr sz="2000" b="1" dirty="0" err="1">
                <a:solidFill>
                  <a:srgbClr val="1F4E79"/>
                </a:solidFill>
              </a:rPr>
              <a:t>메커니즘</a:t>
            </a:r>
            <a:r>
              <a:rPr sz="2000" b="1" dirty="0">
                <a:solidFill>
                  <a:srgbClr val="1F4E79"/>
                </a:solidFill>
              </a:rPr>
              <a:t> 1 — BOJ </a:t>
            </a:r>
            <a:r>
              <a:rPr sz="2000" b="1" dirty="0" err="1">
                <a:solidFill>
                  <a:srgbClr val="1F4E79"/>
                </a:solidFill>
              </a:rPr>
              <a:t>비전통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정책으로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거시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변수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시계열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변동성</a:t>
            </a:r>
            <a:r>
              <a:rPr sz="2000" b="1" dirty="0">
                <a:solidFill>
                  <a:srgbClr val="1F4E79"/>
                </a:solidFill>
              </a:rPr>
              <a:t> </a:t>
            </a:r>
            <a:r>
              <a:rPr sz="2000" b="1" dirty="0" err="1">
                <a:solidFill>
                  <a:srgbClr val="1F4E79"/>
                </a:solidFill>
              </a:rPr>
              <a:t>결여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000" y="2583872"/>
            <a:ext cx="11049000" cy="661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1999 ZIRP → 2001 QE → 2013 QQE → 2016 YCC: </a:t>
            </a:r>
            <a:r>
              <a:rPr sz="1600" b="0" dirty="0" err="1">
                <a:solidFill>
                  <a:srgbClr val="000000"/>
                </a:solidFill>
              </a:rPr>
              <a:t>영구적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비전통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통화정책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체제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일본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정책금리·단기금리가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사실상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상수</a:t>
            </a:r>
            <a:r>
              <a:rPr sz="1600" b="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962400"/>
            <a:ext cx="110490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</a:rPr>
              <a:t>■ </a:t>
            </a:r>
            <a:r>
              <a:rPr sz="2000" b="1" dirty="0" err="1">
                <a:solidFill>
                  <a:srgbClr val="1F4E79"/>
                </a:solidFill>
              </a:rPr>
              <a:t>메커니즘</a:t>
            </a:r>
            <a:r>
              <a:rPr sz="2000" b="1" dirty="0">
                <a:solidFill>
                  <a:srgbClr val="1F4E79"/>
                </a:solidFill>
              </a:rPr>
              <a:t> 2 — </a:t>
            </a:r>
            <a:r>
              <a:rPr sz="2000" b="1" dirty="0" err="1">
                <a:solidFill>
                  <a:srgbClr val="1F4E79"/>
                </a:solidFill>
              </a:rPr>
              <a:t>위기</a:t>
            </a:r>
            <a:r>
              <a:rPr lang="ko-KR" altLang="en-US" sz="2000" b="1" dirty="0">
                <a:solidFill>
                  <a:srgbClr val="1F4E79"/>
                </a:solidFill>
              </a:rPr>
              <a:t>시</a:t>
            </a:r>
            <a:r>
              <a:rPr sz="2000" b="1" dirty="0">
                <a:solidFill>
                  <a:srgbClr val="1F4E79"/>
                </a:solidFill>
              </a:rPr>
              <a:t> yen </a:t>
            </a:r>
            <a:r>
              <a:rPr sz="2000" b="1" dirty="0" err="1">
                <a:solidFill>
                  <a:srgbClr val="1F4E79"/>
                </a:solidFill>
              </a:rPr>
              <a:t>채널</a:t>
            </a:r>
            <a:r>
              <a:rPr lang="ko-KR" altLang="en-US" sz="2000" b="1" dirty="0">
                <a:solidFill>
                  <a:srgbClr val="1F4E79"/>
                </a:solidFill>
              </a:rPr>
              <a:t>에 따른 효과를 </a:t>
            </a:r>
            <a:r>
              <a:rPr lang="en-US" altLang="ko-KR" sz="2000" b="1" dirty="0">
                <a:solidFill>
                  <a:srgbClr val="1F4E79"/>
                </a:solidFill>
              </a:rPr>
              <a:t>Feature </a:t>
            </a:r>
            <a:r>
              <a:rPr lang="ko-KR" altLang="en-US" sz="2000" b="1" dirty="0">
                <a:solidFill>
                  <a:srgbClr val="1F4E79"/>
                </a:solidFill>
              </a:rPr>
              <a:t>세트가 포착하지 못함</a:t>
            </a:r>
            <a:endParaRPr sz="2000" b="1" dirty="0">
              <a:solidFill>
                <a:srgbClr val="1F4E7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000" y="4419600"/>
            <a:ext cx="11049000" cy="984885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위기</a:t>
            </a:r>
            <a:r>
              <a:rPr sz="1600" b="0" dirty="0">
                <a:solidFill>
                  <a:srgbClr val="000000"/>
                </a:solidFill>
              </a:rPr>
              <a:t> 시 yen safe-haven flow + carry trade unwinding + BOJ FX </a:t>
            </a:r>
            <a:r>
              <a:rPr sz="1600" b="0" dirty="0" err="1">
                <a:solidFill>
                  <a:srgbClr val="000000"/>
                </a:solidFill>
              </a:rPr>
              <a:t>개입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Extended </a:t>
            </a:r>
            <a:r>
              <a:rPr sz="1600" b="0" dirty="0" err="1">
                <a:solidFill>
                  <a:srgbClr val="000000"/>
                </a:solidFill>
              </a:rPr>
              <a:t>tier의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spillover·EPU·정책금리·FX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변화율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변수로는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포착되지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않음</a:t>
            </a:r>
            <a:endParaRPr sz="16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 b="0" dirty="0">
                <a:solidFill>
                  <a:srgbClr val="000000"/>
                </a:solidFill>
              </a:rPr>
              <a:t>• </a:t>
            </a:r>
            <a:r>
              <a:rPr sz="1600" b="0" dirty="0" err="1">
                <a:solidFill>
                  <a:srgbClr val="000000"/>
                </a:solidFill>
              </a:rPr>
              <a:t>위기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구간에서</a:t>
            </a:r>
            <a:r>
              <a:rPr sz="1600" b="0" dirty="0">
                <a:solidFill>
                  <a:srgbClr val="000000"/>
                </a:solidFill>
              </a:rPr>
              <a:t> 두 </a:t>
            </a:r>
            <a:r>
              <a:rPr sz="1600" b="0" dirty="0" err="1">
                <a:solidFill>
                  <a:srgbClr val="000000"/>
                </a:solidFill>
              </a:rPr>
              <a:t>메커니즘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결합</a:t>
            </a:r>
            <a:r>
              <a:rPr sz="1600" b="0" dirty="0">
                <a:solidFill>
                  <a:srgbClr val="000000"/>
                </a:solidFill>
              </a:rPr>
              <a:t> → </a:t>
            </a:r>
            <a:r>
              <a:rPr sz="1600" b="0" dirty="0" err="1">
                <a:solidFill>
                  <a:srgbClr val="000000"/>
                </a:solidFill>
              </a:rPr>
              <a:t>추가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변수가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신호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대신</a:t>
            </a:r>
            <a:r>
              <a:rPr sz="1600" b="0" dirty="0">
                <a:solidFill>
                  <a:srgbClr val="000000"/>
                </a:solidFill>
              </a:rPr>
              <a:t> noise → </a:t>
            </a:r>
            <a:r>
              <a:rPr sz="1600" b="0" dirty="0" err="1">
                <a:solidFill>
                  <a:srgbClr val="000000"/>
                </a:solidFill>
              </a:rPr>
              <a:t>음의</a:t>
            </a:r>
            <a:r>
              <a:rPr sz="1600" b="0" dirty="0">
                <a:solidFill>
                  <a:srgbClr val="000000"/>
                </a:solidFill>
              </a:rPr>
              <a:t> </a:t>
            </a:r>
            <a:r>
              <a:rPr sz="1600" b="0" dirty="0" err="1">
                <a:solidFill>
                  <a:srgbClr val="000000"/>
                </a:solidFill>
              </a:rPr>
              <a:t>개선폭</a:t>
            </a:r>
            <a:endParaRPr sz="16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950D27-C00A-415B-B4DA-1C0C73351140}"/>
              </a:ext>
            </a:extLst>
          </p:cNvPr>
          <p:cNvSpPr/>
          <p:nvPr/>
        </p:nvSpPr>
        <p:spPr>
          <a:xfrm>
            <a:off x="6299200" y="1066800"/>
            <a:ext cx="5537200" cy="5334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3798E4-B1CE-42B2-82A0-57FBFCF4A4EC}"/>
              </a:ext>
            </a:extLst>
          </p:cNvPr>
          <p:cNvSpPr/>
          <p:nvPr/>
        </p:nvSpPr>
        <p:spPr>
          <a:xfrm>
            <a:off x="355600" y="4064000"/>
            <a:ext cx="5816600" cy="22860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DCDF4-C72B-4EBB-B1FD-46FA633131DA}"/>
              </a:ext>
            </a:extLst>
          </p:cNvPr>
          <p:cNvSpPr/>
          <p:nvPr/>
        </p:nvSpPr>
        <p:spPr>
          <a:xfrm>
            <a:off x="355600" y="1066800"/>
            <a:ext cx="5816600" cy="2946400"/>
          </a:xfrm>
          <a:prstGeom prst="rect">
            <a:avLst/>
          </a:prstGeom>
          <a:solidFill>
            <a:srgbClr val="F5F7FA"/>
          </a:solidFill>
          <a:ln w="9525" cap="flat" cmpd="sng" algn="ctr">
            <a:solidFill>
              <a:srgbClr val="E1E7E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5. 분석의 한계 · 윤리 · 향후 연구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4552" cy="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분석의 한계와 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5334000" cy="1107996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ko-KR" sz="1400" b="0" dirty="0">
                <a:solidFill>
                  <a:srgbClr val="000000"/>
                </a:solidFill>
              </a:rPr>
              <a:t>• 1</a:t>
            </a:r>
            <a:r>
              <a:rPr lang="ko-KR" altLang="en-US" sz="1400" b="0" dirty="0">
                <a:solidFill>
                  <a:srgbClr val="000000"/>
                </a:solidFill>
              </a:rPr>
              <a:t>일 후</a:t>
            </a:r>
            <a:r>
              <a:rPr lang="en-US" altLang="ko-KR" sz="1400" b="0" dirty="0">
                <a:solidFill>
                  <a:srgbClr val="000000"/>
                </a:solidFill>
              </a:rPr>
              <a:t>(h=1) </a:t>
            </a:r>
            <a:r>
              <a:rPr lang="ko-KR" altLang="en-US" sz="1400" b="0" dirty="0">
                <a:solidFill>
                  <a:srgbClr val="000000"/>
                </a:solidFill>
              </a:rPr>
              <a:t>예측에 한정 </a:t>
            </a:r>
            <a:r>
              <a:rPr lang="en-US" altLang="ko-KR" sz="1400" b="0" dirty="0">
                <a:solidFill>
                  <a:srgbClr val="000000"/>
                </a:solidFill>
              </a:rPr>
              <a:t>— </a:t>
            </a:r>
            <a:r>
              <a:rPr lang="ko-KR" altLang="en-US" sz="1400" b="0" dirty="0">
                <a:solidFill>
                  <a:srgbClr val="000000"/>
                </a:solidFill>
              </a:rPr>
              <a:t>본 연구 가장 본질적 제약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ko-KR" sz="1400" b="0" dirty="0">
                <a:solidFill>
                  <a:srgbClr val="000000"/>
                </a:solidFill>
              </a:rPr>
              <a:t>• Feature </a:t>
            </a:r>
            <a:r>
              <a:rPr lang="ko-KR" altLang="en-US" sz="1400" b="0" dirty="0">
                <a:solidFill>
                  <a:srgbClr val="000000"/>
                </a:solidFill>
              </a:rPr>
              <a:t>집합</a:t>
            </a:r>
            <a:r>
              <a:rPr lang="en-US" altLang="ko-KR" sz="1400" b="0" dirty="0">
                <a:solidFill>
                  <a:srgbClr val="000000"/>
                </a:solidFill>
              </a:rPr>
              <a:t>: yen carry positioning, BOJ FX </a:t>
            </a:r>
            <a:r>
              <a:rPr lang="ko-KR" altLang="en-US" sz="1400" b="0" dirty="0">
                <a:solidFill>
                  <a:srgbClr val="000000"/>
                </a:solidFill>
              </a:rPr>
              <a:t>개입 신호 등 시장 고유 변수 미포함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ko-KR" sz="1400" b="0" dirty="0">
                <a:solidFill>
                  <a:srgbClr val="000000"/>
                </a:solidFill>
              </a:rPr>
              <a:t>• 9·11 </a:t>
            </a:r>
            <a:r>
              <a:rPr lang="ko-KR" altLang="en-US" sz="1400" b="0" dirty="0">
                <a:solidFill>
                  <a:srgbClr val="000000"/>
                </a:solidFill>
              </a:rPr>
              <a:t>위기 </a:t>
            </a:r>
            <a:r>
              <a:rPr lang="en-US" altLang="ko-KR" sz="1400" b="0" dirty="0">
                <a:solidFill>
                  <a:srgbClr val="000000"/>
                </a:solidFill>
              </a:rPr>
              <a:t>train </a:t>
            </a:r>
            <a:r>
              <a:rPr lang="ko-KR" altLang="en-US" sz="1400" b="0" dirty="0">
                <a:solidFill>
                  <a:srgbClr val="000000"/>
                </a:solidFill>
              </a:rPr>
              <a:t>표본 약 </a:t>
            </a:r>
            <a:r>
              <a:rPr lang="en-US" altLang="ko-KR" sz="1400" b="0" dirty="0">
                <a:solidFill>
                  <a:srgbClr val="000000"/>
                </a:solidFill>
              </a:rPr>
              <a:t>340</a:t>
            </a:r>
            <a:r>
              <a:rPr lang="ko-KR" altLang="en-US" sz="1400" b="0" dirty="0">
                <a:solidFill>
                  <a:srgbClr val="000000"/>
                </a:solidFill>
              </a:rPr>
              <a:t>일 </a:t>
            </a:r>
            <a:r>
              <a:rPr lang="en-US" altLang="ko-KR" sz="1400" b="0" dirty="0">
                <a:solidFill>
                  <a:srgbClr val="000000"/>
                </a:solidFill>
              </a:rPr>
              <a:t>— </a:t>
            </a:r>
            <a:r>
              <a:rPr lang="ko-KR" altLang="en-US" sz="1400" b="0" dirty="0">
                <a:solidFill>
                  <a:srgbClr val="000000"/>
                </a:solidFill>
              </a:rPr>
              <a:t>통계적 신뢰도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4114800"/>
            <a:ext cx="5334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윤리적 · 법적 고려사항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4572000"/>
            <a:ext cx="5334000" cy="132343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</a:t>
            </a:r>
            <a:r>
              <a:rPr sz="1400" b="0" dirty="0" err="1">
                <a:solidFill>
                  <a:srgbClr val="000000"/>
                </a:solidFill>
              </a:rPr>
              <a:t>공인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금융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데이터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제공기관의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시장가격·거시지표</a:t>
            </a:r>
            <a:r>
              <a:rPr sz="1400" b="0" dirty="0">
                <a:solidFill>
                  <a:srgbClr val="000000"/>
                </a:solidFill>
              </a:rPr>
              <a:t> — </a:t>
            </a:r>
            <a:r>
              <a:rPr sz="1400" b="0" dirty="0" err="1">
                <a:solidFill>
                  <a:srgbClr val="000000"/>
                </a:solidFill>
              </a:rPr>
              <a:t>개인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식별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정보</a:t>
            </a:r>
            <a:r>
              <a:rPr sz="1400" b="0" dirty="0">
                <a:solidFill>
                  <a:srgbClr val="000000"/>
                </a:solidFill>
              </a:rPr>
              <a:t> 無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Oxford-Man = </a:t>
            </a:r>
            <a:r>
              <a:rPr sz="1400" b="0" dirty="0" err="1">
                <a:solidFill>
                  <a:srgbClr val="000000"/>
                </a:solidFill>
              </a:rPr>
              <a:t>학술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목적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공개</a:t>
            </a:r>
            <a:r>
              <a:rPr sz="1400" b="0" dirty="0">
                <a:solidFill>
                  <a:srgbClr val="000000"/>
                </a:solidFill>
              </a:rPr>
              <a:t> DB / Bloomberg·DataGuide = </a:t>
            </a:r>
            <a:r>
              <a:rPr sz="1400" b="0" dirty="0" err="1">
                <a:solidFill>
                  <a:srgbClr val="000000"/>
                </a:solidFill>
              </a:rPr>
              <a:t>기관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라이선스</a:t>
            </a:r>
            <a:r>
              <a:rPr sz="1400" b="0" dirty="0">
                <a:solidFill>
                  <a:srgbClr val="000000"/>
                </a:solidFill>
              </a:rPr>
              <a:t> 내 </a:t>
            </a:r>
            <a:r>
              <a:rPr sz="1400" b="0" dirty="0" err="1">
                <a:solidFill>
                  <a:srgbClr val="000000"/>
                </a:solidFill>
              </a:rPr>
              <a:t>사용</a:t>
            </a:r>
            <a:endParaRPr sz="14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0" dirty="0">
                <a:solidFill>
                  <a:srgbClr val="000000"/>
                </a:solidFill>
              </a:rPr>
              <a:t>• </a:t>
            </a:r>
            <a:r>
              <a:rPr sz="1400" b="0" dirty="0" err="1">
                <a:solidFill>
                  <a:srgbClr val="000000"/>
                </a:solidFill>
              </a:rPr>
              <a:t>데이터는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학술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분석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한정</a:t>
            </a:r>
            <a:r>
              <a:rPr sz="1400" b="0" dirty="0">
                <a:solidFill>
                  <a:srgbClr val="000000"/>
                </a:solidFill>
              </a:rPr>
              <a:t> — </a:t>
            </a:r>
            <a:r>
              <a:rPr sz="1400" b="0" dirty="0" err="1">
                <a:solidFill>
                  <a:srgbClr val="000000"/>
                </a:solidFill>
              </a:rPr>
              <a:t>상업적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재배포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없음</a:t>
            </a:r>
            <a:endParaRPr sz="1400" b="0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1143000"/>
            <a:ext cx="5207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■ 향후 연구 및 개선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600200"/>
            <a:ext cx="5207000" cy="3036729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딥러닝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모형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추가</a:t>
            </a:r>
            <a:r>
              <a:rPr b="1" dirty="0">
                <a:solidFill>
                  <a:srgbClr val="000000"/>
                </a:solidFill>
              </a:rPr>
              <a:t> (</a:t>
            </a:r>
            <a:r>
              <a:rPr b="1" dirty="0" err="1">
                <a:solidFill>
                  <a:srgbClr val="000000"/>
                </a:solidFill>
              </a:rPr>
              <a:t>담당</a:t>
            </a:r>
            <a:r>
              <a:rPr b="1" dirty="0">
                <a:solidFill>
                  <a:srgbClr val="000000"/>
                </a:solidFill>
              </a:rPr>
              <a:t>: </a:t>
            </a:r>
            <a:r>
              <a:rPr b="1" dirty="0" err="1">
                <a:solidFill>
                  <a:srgbClr val="000000"/>
                </a:solidFill>
              </a:rPr>
              <a:t>황희석·이건희</a:t>
            </a:r>
            <a:r>
              <a:rPr b="1" dirty="0">
                <a:solidFill>
                  <a:srgbClr val="000000"/>
                </a:solidFill>
              </a:rPr>
              <a:t>, ~</a:t>
            </a:r>
            <a:r>
              <a:rPr lang="en-US" b="1" dirty="0">
                <a:solidFill>
                  <a:srgbClr val="000000"/>
                </a:solidFill>
              </a:rPr>
              <a:t>5</a:t>
            </a:r>
            <a:r>
              <a:rPr b="1" dirty="0">
                <a:solidFill>
                  <a:srgbClr val="000000"/>
                </a:solidFill>
              </a:rPr>
              <a:t>월 </a:t>
            </a:r>
            <a:r>
              <a:rPr lang="en-US" b="1" dirty="0">
                <a:solidFill>
                  <a:srgbClr val="000000"/>
                </a:solidFill>
              </a:rPr>
              <a:t>4</a:t>
            </a:r>
            <a:r>
              <a:rPr b="1" dirty="0">
                <a:solidFill>
                  <a:srgbClr val="000000"/>
                </a:solidFill>
              </a:rPr>
              <a:t>주)</a:t>
            </a:r>
          </a:p>
          <a:p>
            <a:pPr lvl="1"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</a:rPr>
              <a:t>–  1D-CNN, TCN, LSTM, TST </a:t>
            </a:r>
            <a:r>
              <a:rPr sz="1200" b="0" dirty="0" err="1">
                <a:solidFill>
                  <a:srgbClr val="000000"/>
                </a:solidFill>
              </a:rPr>
              <a:t>후보</a:t>
            </a:r>
            <a:r>
              <a:rPr sz="1200" b="0" dirty="0">
                <a:solidFill>
                  <a:srgbClr val="000000"/>
                </a:solidFill>
              </a:rPr>
              <a:t> / </a:t>
            </a:r>
            <a:r>
              <a:rPr sz="1200" b="0" dirty="0" err="1">
                <a:solidFill>
                  <a:srgbClr val="000000"/>
                </a:solidFill>
              </a:rPr>
              <a:t>동일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평가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격자</a:t>
            </a:r>
            <a:endParaRPr sz="1200" b="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</a:rPr>
              <a:t>–  TCN dilation [1, 5, 22] = HAR-</a:t>
            </a:r>
            <a:r>
              <a:rPr sz="1200" b="0" dirty="0" err="1">
                <a:solidFill>
                  <a:srgbClr val="000000"/>
                </a:solidFill>
              </a:rPr>
              <a:t>RV의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비선형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확장</a:t>
            </a:r>
            <a:endParaRPr lang="en-US" sz="1200" b="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endParaRPr sz="120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자체</a:t>
            </a:r>
            <a:r>
              <a:rPr b="1" dirty="0">
                <a:solidFill>
                  <a:srgbClr val="000000"/>
                </a:solidFill>
              </a:rPr>
              <a:t> Group-Structured NN</a:t>
            </a:r>
            <a:endParaRPr lang="en-US" b="1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 (</a:t>
            </a:r>
            <a:r>
              <a:rPr b="1" dirty="0" err="1">
                <a:solidFill>
                  <a:srgbClr val="000000"/>
                </a:solidFill>
              </a:rPr>
              <a:t>담당</a:t>
            </a:r>
            <a:r>
              <a:rPr b="1" dirty="0">
                <a:solidFill>
                  <a:srgbClr val="000000"/>
                </a:solidFill>
              </a:rPr>
              <a:t>: </a:t>
            </a:r>
            <a:r>
              <a:rPr b="1" dirty="0" err="1">
                <a:solidFill>
                  <a:srgbClr val="000000"/>
                </a:solidFill>
              </a:rPr>
              <a:t>구교현·송준혁</a:t>
            </a:r>
            <a:r>
              <a:rPr b="1" dirty="0">
                <a:solidFill>
                  <a:srgbClr val="000000"/>
                </a:solidFill>
              </a:rPr>
              <a:t>, ~</a:t>
            </a:r>
            <a:r>
              <a:rPr lang="en-US" b="1" dirty="0">
                <a:solidFill>
                  <a:srgbClr val="000000"/>
                </a:solidFill>
              </a:rPr>
              <a:t>5</a:t>
            </a:r>
            <a:r>
              <a:rPr b="1" dirty="0">
                <a:solidFill>
                  <a:srgbClr val="000000"/>
                </a:solidFill>
              </a:rPr>
              <a:t>월 </a:t>
            </a:r>
            <a:r>
              <a:rPr lang="en-US" b="1" dirty="0">
                <a:solidFill>
                  <a:srgbClr val="000000"/>
                </a:solidFill>
              </a:rPr>
              <a:t>4</a:t>
            </a:r>
            <a:r>
              <a:rPr b="1" dirty="0">
                <a:solidFill>
                  <a:srgbClr val="000000"/>
                </a:solidFill>
              </a:rPr>
              <a:t>주)</a:t>
            </a:r>
          </a:p>
          <a:p>
            <a:pPr lvl="1"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</a:rPr>
              <a:t>–  28개 </a:t>
            </a:r>
            <a:r>
              <a:rPr sz="1200" b="0" dirty="0" err="1">
                <a:solidFill>
                  <a:srgbClr val="000000"/>
                </a:solidFill>
              </a:rPr>
              <a:t>feature를</a:t>
            </a:r>
            <a:r>
              <a:rPr sz="1200" b="0" dirty="0">
                <a:solidFill>
                  <a:srgbClr val="000000"/>
                </a:solidFill>
              </a:rPr>
              <a:t> Core/Momentum/Macro/Spillover 4그룹 </a:t>
            </a:r>
            <a:r>
              <a:rPr sz="1200" b="0" dirty="0" err="1">
                <a:solidFill>
                  <a:srgbClr val="000000"/>
                </a:solidFill>
              </a:rPr>
              <a:t>분리</a:t>
            </a:r>
            <a:endParaRPr sz="1200" b="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 b="0" dirty="0">
                <a:solidFill>
                  <a:srgbClr val="000000"/>
                </a:solidFill>
              </a:rPr>
              <a:t>–  Gating </a:t>
            </a:r>
            <a:r>
              <a:rPr sz="1200" b="0" dirty="0" err="1">
                <a:solidFill>
                  <a:srgbClr val="000000"/>
                </a:solidFill>
              </a:rPr>
              <a:t>module로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그룹별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기여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가중치</a:t>
            </a:r>
            <a:r>
              <a:rPr sz="1200" b="0" dirty="0">
                <a:solidFill>
                  <a:srgbClr val="000000"/>
                </a:solidFill>
              </a:rPr>
              <a:t> </a:t>
            </a:r>
            <a:r>
              <a:rPr sz="1200" b="0" dirty="0" err="1">
                <a:solidFill>
                  <a:srgbClr val="000000"/>
                </a:solidFill>
              </a:rPr>
              <a:t>학습</a:t>
            </a:r>
            <a:r>
              <a:rPr sz="1200" b="0" dirty="0">
                <a:solidFill>
                  <a:srgbClr val="000000"/>
                </a:solidFill>
              </a:rPr>
              <a:t> — by-design </a:t>
            </a:r>
            <a:r>
              <a:rPr sz="1200" b="0" dirty="0" err="1">
                <a:solidFill>
                  <a:srgbClr val="000000"/>
                </a:solidFill>
              </a:rPr>
              <a:t>해석성</a:t>
            </a:r>
            <a:endParaRPr lang="en-US" sz="1200" b="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endParaRPr lang="en-US" sz="1050" dirty="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endParaRPr sz="1050" b="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b="1" dirty="0">
                <a:solidFill>
                  <a:srgbClr val="000000"/>
                </a:solidFill>
              </a:rPr>
              <a:t>• </a:t>
            </a:r>
            <a:r>
              <a:rPr b="1" dirty="0" err="1">
                <a:solidFill>
                  <a:srgbClr val="000000"/>
                </a:solidFill>
              </a:rPr>
              <a:t>최종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보고서</a:t>
            </a:r>
            <a:r>
              <a:rPr b="1" dirty="0">
                <a:solidFill>
                  <a:srgbClr val="000000"/>
                </a:solidFill>
              </a:rPr>
              <a:t> </a:t>
            </a:r>
            <a:r>
              <a:rPr b="1" dirty="0" err="1">
                <a:solidFill>
                  <a:srgbClr val="000000"/>
                </a:solidFill>
              </a:rPr>
              <a:t>통합</a:t>
            </a:r>
            <a:r>
              <a:rPr b="1" dirty="0">
                <a:solidFill>
                  <a:srgbClr val="000000"/>
                </a:solidFill>
              </a:rPr>
              <a:t> (</a:t>
            </a:r>
            <a:r>
              <a:rPr b="1" dirty="0" err="1">
                <a:solidFill>
                  <a:srgbClr val="000000"/>
                </a:solidFill>
              </a:rPr>
              <a:t>전원</a:t>
            </a:r>
            <a:r>
              <a:rPr b="1" dirty="0">
                <a:solidFill>
                  <a:srgbClr val="000000"/>
                </a:solidFill>
              </a:rPr>
              <a:t>, ~6월 </a:t>
            </a:r>
            <a:r>
              <a:rPr lang="en-US" b="1" dirty="0">
                <a:solidFill>
                  <a:srgbClr val="000000"/>
                </a:solidFill>
              </a:rPr>
              <a:t>2</a:t>
            </a:r>
            <a:r>
              <a:rPr b="1" dirty="0">
                <a:solidFill>
                  <a:srgbClr val="000000"/>
                </a:solidFill>
              </a:rPr>
              <a:t>주)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32000"/>
            <a:ext cx="112745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0" b="1">
                <a:solidFill>
                  <a:srgbClr val="1F4E79"/>
                </a:solidFill>
              </a:rPr>
              <a:t>Q &amp; A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8BF9CA-ABD8-4D40-9BF6-C2A080DEB2ED}"/>
              </a:ext>
            </a:extLst>
          </p:cNvPr>
          <p:cNvSpPr/>
          <p:nvPr/>
        </p:nvSpPr>
        <p:spPr>
          <a:xfrm>
            <a:off x="5461000" y="4572000"/>
            <a:ext cx="1270000" cy="25400"/>
          </a:xfrm>
          <a:prstGeom prst="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F2675B-3DC7-411E-AB35-BE734039842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db8f69a-6081-4406-bcb8-d4e28995ae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1377</Words>
  <Application>Microsoft Office PowerPoint</Application>
  <PresentationFormat>와이드스크린</PresentationFormat>
  <Paragraphs>125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희석 황</cp:lastModifiedBy>
  <cp:revision>1</cp:revision>
  <dcterms:created xsi:type="dcterms:W3CDTF">2013-01-27T09:14:16Z</dcterms:created>
  <dcterms:modified xsi:type="dcterms:W3CDTF">2026-05-14T06:24:20Z</dcterms:modified>
  <cp:category/>
</cp:coreProperties>
</file>